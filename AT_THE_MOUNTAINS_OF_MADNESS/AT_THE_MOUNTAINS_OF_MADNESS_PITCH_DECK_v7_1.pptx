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715000" type="screen16x10"/>
  <p:notesSz cx="6858000" cy="9144000"/>
  <p:defaultTextStyle>
    <a:defPPr>
      <a:defRPr lang="de-DE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9E69A-619A-47F9-90AA-94FB841F3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0A9B0E-B8A5-4817-A8C9-61F165AC5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21F3A1-A3FE-4D29-B79B-CBA41F163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0438-F217-4ACE-886D-A4BC790F3A4E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DA0AD4-85A9-4F53-86DE-56AD0240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98B6F8-CFF6-4680-BB4D-CE3EB9332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AC1D4-F883-40AD-955E-45E9FDE0A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3103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A906D7-E662-4D28-89CD-3C37408D1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3215EC-B540-48CE-B0D6-9FE7D79E0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EB0BF5-BB9E-43C8-A754-F792376DF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0438-F217-4ACE-886D-A4BC790F3A4E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E1C332-28DD-4732-94EE-40AD62FE3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E868EE-3749-4BA8-B23A-16E5B7C1B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AC1D4-F883-40AD-955E-45E9FDE0A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570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698091-A74D-4C96-BBD6-B9C05C165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A4DF47-23DB-4A86-B0F5-1F5314827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BD51B3-3DD6-4B9F-9E71-F7AB02F07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0438-F217-4ACE-886D-A4BC790F3A4E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AE67FB-63FD-4059-B900-6FEAFB165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CCA9A8-037B-472D-9702-1283B6448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AC1D4-F883-40AD-955E-45E9FDE0A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630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753507-4D54-4A09-A32F-B47A2452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32142B-238E-4C63-9F70-A8D1D097B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C646213-E645-4A61-ABCE-D63AADB43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C00DE12-837B-435A-A9C9-1EB34DEC4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0438-F217-4ACE-886D-A4BC790F3A4E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D964F2-95AA-47FD-BE37-38C019C2A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32643E-5F8D-4BA9-8753-F4D960953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AC1D4-F883-40AD-955E-45E9FDE0A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0597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29C840-85D8-4E54-A07F-8F0AD3DE7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9D3DC0-DEF3-490D-A452-7810B1DBE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D61E84D-7AB4-4F91-B625-84E142029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A3C624-8BF6-458E-B7C2-A2FC50973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7A2838C-1471-420B-8F72-063F17B18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6A99091-61CE-424A-A0EA-70C62DA1D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0438-F217-4ACE-886D-A4BC790F3A4E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CAE447B-66F7-4C88-8D49-37AFEC709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AED37BD-5F29-4525-A573-A8B732B0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AC1D4-F883-40AD-955E-45E9FDE0A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744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8DB700-6978-4827-AE65-CB1ACB33D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FE88267-6777-4313-919C-5C6430B3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0438-F217-4ACE-886D-A4BC790F3A4E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4CF227-A722-421F-9607-7C70074F4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9BFE0D-6235-4917-9C15-08B40CFD6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AC1D4-F883-40AD-955E-45E9FDE0A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5498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0B1EF8D-9BF9-4211-9D53-C5E59927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0438-F217-4ACE-886D-A4BC790F3A4E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EA4536C-7BA9-4A3B-9B2C-A9A8F422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FF7158-08D2-45B9-84C0-1085D7C7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AC1D4-F883-40AD-955E-45E9FDE0A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5684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299D4C-7395-4AEF-8085-ABBDFD7F0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DCCD3F-582E-4361-ADC9-F6165A467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D94A33-6DC5-4524-859B-8DA46A952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32C2CD6-FC1B-4BEC-9A53-A663B8D8C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0438-F217-4ACE-886D-A4BC790F3A4E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0D847A-676A-460A-8CF1-059906E4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308BCE4-0C82-4D8E-B7B1-959F2F107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AC1D4-F883-40AD-955E-45E9FDE0A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328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33D445-9A68-488E-B42D-DF0514F6D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69EDC3C-A23A-4055-942B-9FB821D49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9FD5583-36A1-4735-91B3-18339870C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C664B97-0F1A-4EB6-A459-2BB0249F7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0438-F217-4ACE-886D-A4BC790F3A4E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31471A-CC47-4C45-AA59-A5AB93434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6481D3-0ED9-4020-9D88-DF27C2209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AC1D4-F883-40AD-955E-45E9FDE0A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841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334BDA-612C-4046-9723-6E591AEE4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568CBD-06CC-4015-BCCF-F282DF749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7E8C24-ABC5-4204-863A-1B6D09891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0438-F217-4ACE-886D-A4BC790F3A4E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3A265D-7C9B-4BC1-8B39-3F974E5B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25A8AF-F579-413E-A96E-BC8D5D4EC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AC1D4-F883-40AD-955E-45E9FDE0A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908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647FF4F-EC02-4225-A886-58E9EBA941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8FB25FC-B00D-4065-BF88-A278DC1D4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1A7BC1-87BE-4083-888A-655DF8652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0438-F217-4ACE-886D-A4BC790F3A4E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C8B563-FB34-46E8-8520-AAC070055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DC5DF8-696C-412D-8348-D79BF223A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AC1D4-F883-40AD-955E-45E9FDE0A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645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073ADA5-995C-43DC-9DA7-F50D252DB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6FA5B1-9442-4C46-B05B-87E8CA0C5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8A1116-AF0F-49E3-A42E-14C70534A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A0438-F217-4ACE-886D-A4BC790F3A4E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F08B79-1E3D-4ECC-8628-FF2729494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A5F5E8-1968-4899-A259-B9A4A44D7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AC1D4-F883-40AD-955E-45E9FDE0A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606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4BA94C6-5E28-43BC-A74D-B2F71F8AE9E7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1AEC23C-262C-4669-97E5-EF6AB4CC1FB5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25F0C79-C08A-478F-A20C-CA26857283AB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4018E64-1BF1-40B7-B57A-3073B731CECC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600">
                <a:solidFill>
                  <a:srgbClr val="F2F7FF"/>
                </a:solidFill>
                <a:latin typeface="Segoe UI Semibold" panose="020B0702040204020203" pitchFamily="34" charset="0"/>
              </a:rPr>
              <a:t>AT THE MOUNTAINS OF MADNESS</a:t>
            </a:r>
            <a:endParaRPr lang="de-DE" sz="4600">
              <a:solidFill>
                <a:srgbClr val="F2F7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62C047C-0371-40F1-8962-7034711E7EE5}"/>
              </a:ext>
            </a:extLst>
          </p:cNvPr>
          <p:cNvSpPr txBox="1"/>
          <p:nvPr/>
        </p:nvSpPr>
        <p:spPr>
          <a:xfrm>
            <a:off x="1041400" y="1981200"/>
            <a:ext cx="17780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100">
                <a:solidFill>
                  <a:srgbClr val="7FA0C7"/>
                </a:solidFill>
                <a:latin typeface="Segoe UI" panose="020B0502040204020203" pitchFamily="34" charset="0"/>
              </a:rPr>
              <a:t>Hollywood Pitch Deck v7.1 | Final Package
Cosmic Horror Thriller | Premium Studio Feature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10C1996-9165-4A8D-A92E-836C1AB1D5E9}"/>
              </a:ext>
            </a:extLst>
          </p:cNvPr>
          <p:cNvSpPr txBox="1"/>
          <p:nvPr/>
        </p:nvSpPr>
        <p:spPr>
          <a:xfrm>
            <a:off x="1168400" y="3238500"/>
            <a:ext cx="15240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Tagline: The oldest intelligence on Earth is not hunting us. It is evaluating us.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Final Identity: Engineer-intelligence, human iteration, revelation as horror.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DFF6A27-7143-43AB-890E-3D066A8DA090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4059E6D-DDFE-4057-BAD7-816EB025BB92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A35F44E-A1DE-45E4-9771-D36CD0CCD1D6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80057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F019D57E-7261-492B-B4EB-55948F8BCF1E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839F512-B3E3-4B50-8223-4D0DB1B44EE1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F2C45C3-C9F9-4745-863E-2A499ECD600E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153654E-3614-4E6C-A550-786A7ADE3FA9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The Hook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E97C525-74E3-4BA2-B3DC-CCE293C8D095}"/>
              </a:ext>
            </a:extLst>
          </p:cNvPr>
          <p:cNvSpPr txBox="1"/>
          <p:nvPr/>
        </p:nvSpPr>
        <p:spPr>
          <a:xfrm>
            <a:off x="1168400" y="2159000"/>
            <a:ext cx="1422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A rescue mission enters Antarctica and finds an active system, not a ruin.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The deeper they go, the clearer it becomes: humanity may be one version in a designed cycle.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The film sells dread through discovery, not creature attack patterns.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DF2EB08-6C02-4851-9F82-EFBB2905A541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6200E8-74E9-460F-9D8D-54374C277E82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ECC22C8-1DBC-4C67-9484-D1710C3EA9B2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97371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F873CD0-EB20-406C-8A06-00D257EC9A38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C3CB7EC-682A-408A-B29C-400D0D81C97F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8A48DA3-7356-4903-9A6B-5A41337D0CAA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35CCB65-CC26-4E53-837F-E9E5F5B7CED3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Logline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ACAC3E4-6036-4B61-94F1-EE7A26C4C838}"/>
              </a:ext>
            </a:extLst>
          </p:cNvPr>
          <p:cNvSpPr txBox="1"/>
          <p:nvPr/>
        </p:nvSpPr>
        <p:spPr>
          <a:xfrm>
            <a:off x="1168400" y="2159000"/>
            <a:ext cx="14224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A grieving systems scientist leads a polar recovery team into a buried pre-human complex and discovers that Earth has been repeatedly reset.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To bring anyone home, he must choose between exposing the truth and containing it, while evidence suggests he may already be integrated into the evaluating intelligence.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2DEE44D-5C34-4025-8B23-A0EDED1E10F9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28775D0-95BF-47A5-B159-A7FEFEA00F72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3DE78FB-2966-42EE-B14B-828D2E65E583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1116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699B4A1-A4B3-4A69-A9E3-D6A1BEDA5CFC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2CD3F31-87C7-4838-91AD-ACE3ABDA3BB1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9E7801E-AB2B-4648-9B56-392297C27BBD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4C65548-FD71-4CC9-9E1D-0247E4E3CDE0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Story Summary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51489B4-2958-4148-9C50-F96D212A298A}"/>
              </a:ext>
            </a:extLst>
          </p:cNvPr>
          <p:cNvSpPr txBox="1"/>
          <p:nvPr/>
        </p:nvSpPr>
        <p:spPr>
          <a:xfrm>
            <a:off x="1168400" y="2159000"/>
            <a:ext cx="12954000" cy="30469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Camp D1 goes silent; a six-person team arrives to retrieve data and personnel.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Inside the camp, evidence points to precise biological investigation, not random violence.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Below the ice they discover an iteration chamber with preserved human and near-human variants.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Keller realizes the core horror: civilization may be a test environment repeatedly reset.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A structural collapse removes the return route. Escape requires moving deeper before moving out.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The Elder Thing completes its analysis and enters the human world. The cycle remains active.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F141C2C-FA17-4239-B902-F12508403543}"/>
              </a:ext>
            </a:extLst>
          </p:cNvPr>
          <p:cNvSpPr/>
          <p:nvPr/>
        </p:nvSpPr>
        <p:spPr>
          <a:xfrm>
            <a:off x="14986000" y="2667000"/>
            <a:ext cx="8382000" cy="8890000"/>
          </a:xfrm>
          <a:prstGeom prst="rect">
            <a:avLst/>
          </a:prstGeom>
          <a:solidFill>
            <a:srgbClr val="15263F">
              <a:alpha val="85000"/>
            </a:srgbClr>
          </a:solidFill>
          <a:ln w="25400">
            <a:solidFill>
              <a:srgbClr val="36D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51F45DD-74E2-4EC2-A291-34FE60909174}"/>
              </a:ext>
            </a:extLst>
          </p:cNvPr>
          <p:cNvSpPr txBox="1"/>
          <p:nvPr/>
        </p:nvSpPr>
        <p:spPr>
          <a:xfrm>
            <a:off x="15430500" y="3111500"/>
            <a:ext cx="7493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36D6FF"/>
                </a:solidFill>
                <a:latin typeface="Segoe UI Semibold" panose="020B0702040204020203" pitchFamily="34" charset="0"/>
              </a:rPr>
              <a:t>KEY ART PLACEHOLDER</a:t>
            </a:r>
          </a:p>
          <a:p>
            <a:r>
              <a:rPr lang="en-US" sz="2000">
                <a:solidFill>
                  <a:srgbClr val="36D6FF"/>
                </a:solidFill>
                <a:latin typeface="Segoe UI Semibold" panose="020B0702040204020203" pitchFamily="34" charset="0"/>
              </a:rPr>
              <a:t>MOOD: SCALE | VOID | ENGINEERED DREAD</a:t>
            </a:r>
            <a:endParaRPr lang="de-DE" sz="2000">
              <a:solidFill>
                <a:srgbClr val="36D6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6635902-2D5E-4AF2-B98B-E56759AD4616}"/>
              </a:ext>
            </a:extLst>
          </p:cNvPr>
          <p:cNvSpPr/>
          <p:nvPr/>
        </p:nvSpPr>
        <p:spPr>
          <a:xfrm>
            <a:off x="15430500" y="5080000"/>
            <a:ext cx="7493000" cy="5905500"/>
          </a:xfrm>
          <a:prstGeom prst="rect">
            <a:avLst/>
          </a:prstGeom>
          <a:solidFill>
            <a:srgbClr val="111E33">
              <a:alpha val="75000"/>
            </a:srgbClr>
          </a:solidFill>
          <a:ln>
            <a:solidFill>
              <a:srgbClr val="4F719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25E966A-EA69-41EB-9618-A8CA6641991A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AE7F3C4-806B-4A32-A873-3D22A7CB4566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85E5473-6658-4A7C-BE5C-BADD44DE2E63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0397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9966416-19AC-4812-B9DF-394258622F1F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9EB15FB-6528-4E8A-A8C8-67F5FEA1395B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64EA0E9-0840-418E-8A54-13346D329830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12CE444-B7E8-4D20-86F8-ED9DAC54F400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3-Act Spine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763682A-49F6-43C6-A151-17A85D5686BF}"/>
              </a:ext>
            </a:extLst>
          </p:cNvPr>
          <p:cNvSpPr txBox="1"/>
          <p:nvPr/>
        </p:nvSpPr>
        <p:spPr>
          <a:xfrm>
            <a:off x="1168400" y="2159000"/>
            <a:ext cx="1422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Act I: Recovery mission -&gt; active architecture -&gt; weather clock -&gt; descent decision.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Act II: Iteration evidence -&gt; emotional fracture -&gt; revelation of reset logic.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Act III: No-return escape -&gt; institutional cover -&gt; mirrored ending confirms recurrence.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C3C7895-D9E0-4BFB-A0FF-624F12780E56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F1241B1-D3B9-4B36-8EAF-A6054095410D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B53799C-FEBC-46DF-AD4E-8F8348C67E04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823905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9E7DF96-424B-47F0-A868-92353C85E9D0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3F302FD-A718-484F-8220-847484063140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FFBA5E2-87B9-4688-87D7-BC4D0F85A69E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2C86240-374D-488C-A46D-A176BCF5B342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Escalation Ladder (Designed)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9A583BF-BCE1-42D2-AFF8-CE89216FFEC4}"/>
              </a:ext>
            </a:extLst>
          </p:cNvPr>
          <p:cNvSpPr txBox="1"/>
          <p:nvPr/>
        </p:nvSpPr>
        <p:spPr>
          <a:xfrm>
            <a:off x="1168400" y="2159000"/>
            <a:ext cx="14224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Unbehagen: ordered environment that observes.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Angst: the system is in interaction range, not background range.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Panik: route failure + time compression + team loss.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Kosmischer Horror: humanity as process material, not pinnacle.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AD0E06B-1A51-49B7-8CA0-E99586B88AD3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3593896-048A-4CE8-9FA1-1A346AE9AD0D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E35F3A5-7DEA-4016-960C-B13D476746F0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8159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A8240B2-FFF6-445B-8693-6A41E2A5B7D4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3CF89AC-7169-417D-A1E9-CC7896A5257A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79B197F-5030-41B3-B157-C3B574D7CD41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54A669A-7EBD-412B-9F38-6EDA77B2600B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Opening / Closing Image Mirror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D50E916-28D4-4BD9-BA93-C70C8347A3D5}"/>
              </a:ext>
            </a:extLst>
          </p:cNvPr>
          <p:cNvSpPr txBox="1"/>
          <p:nvPr/>
        </p:nvSpPr>
        <p:spPr>
          <a:xfrm>
            <a:off x="1168400" y="2159000"/>
            <a:ext cx="1295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Opening image: white void, tiny helicopter, distorted signal.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Closing image: same visual grammar, now re-coded as proof of a repeating process.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Meaning shift drives final impact: from mystery to systemic inevitability.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AFBB0BC-0E2B-4D85-861A-D4E899C339D0}"/>
              </a:ext>
            </a:extLst>
          </p:cNvPr>
          <p:cNvSpPr/>
          <p:nvPr/>
        </p:nvSpPr>
        <p:spPr>
          <a:xfrm>
            <a:off x="14986000" y="2667000"/>
            <a:ext cx="8382000" cy="8890000"/>
          </a:xfrm>
          <a:prstGeom prst="rect">
            <a:avLst/>
          </a:prstGeom>
          <a:solidFill>
            <a:srgbClr val="15263F">
              <a:alpha val="85000"/>
            </a:srgbClr>
          </a:solidFill>
          <a:ln w="25400">
            <a:solidFill>
              <a:srgbClr val="36D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268602A-C780-42C6-8A2E-2BB5C26B6A19}"/>
              </a:ext>
            </a:extLst>
          </p:cNvPr>
          <p:cNvSpPr txBox="1"/>
          <p:nvPr/>
        </p:nvSpPr>
        <p:spPr>
          <a:xfrm>
            <a:off x="15430500" y="3111500"/>
            <a:ext cx="7493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36D6FF"/>
                </a:solidFill>
                <a:latin typeface="Segoe UI Semibold" panose="020B0702040204020203" pitchFamily="34" charset="0"/>
              </a:rPr>
              <a:t>KEY ART PLACEHOLDER</a:t>
            </a:r>
          </a:p>
          <a:p>
            <a:r>
              <a:rPr lang="en-US" sz="2000">
                <a:solidFill>
                  <a:srgbClr val="36D6FF"/>
                </a:solidFill>
                <a:latin typeface="Segoe UI Semibold" panose="020B0702040204020203" pitchFamily="34" charset="0"/>
              </a:rPr>
              <a:t>MOOD: SCALE | VOID | ENGINEERED DREAD</a:t>
            </a:r>
            <a:endParaRPr lang="de-DE" sz="2000">
              <a:solidFill>
                <a:srgbClr val="36D6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62FF6AF-22AB-4C3E-97D4-A243E645A5A3}"/>
              </a:ext>
            </a:extLst>
          </p:cNvPr>
          <p:cNvSpPr/>
          <p:nvPr/>
        </p:nvSpPr>
        <p:spPr>
          <a:xfrm>
            <a:off x="15430500" y="5080000"/>
            <a:ext cx="7493000" cy="5905500"/>
          </a:xfrm>
          <a:prstGeom prst="rect">
            <a:avLst/>
          </a:prstGeom>
          <a:solidFill>
            <a:srgbClr val="111E33">
              <a:alpha val="75000"/>
            </a:srgbClr>
          </a:solidFill>
          <a:ln>
            <a:solidFill>
              <a:srgbClr val="4F719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B97616E-812D-4549-A4D1-5F25977F7C7E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2BD8408-0129-4A08-8A23-AE41D4691682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ADBCF0E-CDD5-4C02-B456-D64FB763C406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815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BD42930-2887-4B94-B4AB-EDE8E90493BD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D158D05-62B6-4620-9864-5088BF01E95B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66C5155-01F7-4A37-88E1-277C07D63E0F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3A38A04-F27F-4E79-BDBD-FB9AB774248E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Character Profile: Dr. Elias Keller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77EDB0-9D85-4850-AD54-2E14DC303FD4}"/>
              </a:ext>
            </a:extLst>
          </p:cNvPr>
          <p:cNvSpPr txBox="1"/>
          <p:nvPr/>
        </p:nvSpPr>
        <p:spPr>
          <a:xfrm>
            <a:off x="1168400" y="2159000"/>
            <a:ext cx="12954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Function: lead scientist and narrative lens.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Inner conflict: guilt over his son -&gt; obsession with proof.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Arc: disciplined empiricist -&gt; destabilized witness -&gt; compromised survivor.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Final state: conscious uncertainty over acceptance versus replacement.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C6F0B5B-E165-417F-88C3-2DED3D0F5B9D}"/>
              </a:ext>
            </a:extLst>
          </p:cNvPr>
          <p:cNvSpPr/>
          <p:nvPr/>
        </p:nvSpPr>
        <p:spPr>
          <a:xfrm>
            <a:off x="14986000" y="2921000"/>
            <a:ext cx="8382000" cy="8128000"/>
          </a:xfrm>
          <a:prstGeom prst="rect">
            <a:avLst/>
          </a:prstGeom>
          <a:solidFill>
            <a:srgbClr val="15263F">
              <a:alpha val="88000"/>
            </a:srgbClr>
          </a:solidFill>
          <a:ln w="19050">
            <a:solidFill>
              <a:srgbClr val="4F7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7A3B7E1-9B8C-4D50-84FB-1F46925CA706}"/>
              </a:ext>
            </a:extLst>
          </p:cNvPr>
          <p:cNvSpPr txBox="1"/>
          <p:nvPr/>
        </p:nvSpPr>
        <p:spPr>
          <a:xfrm>
            <a:off x="15367000" y="3302000"/>
            <a:ext cx="7620000" cy="40934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CHARACTER TRACK</a:t>
            </a:r>
          </a:p>
          <a:p>
            <a:endParaRPr lang="en-US" sz="2000">
              <a:solidFill>
                <a:srgbClr val="D7E3F5"/>
              </a:solidFill>
              <a:latin typeface="Segoe UI" panose="020B0502040204020203" pitchFamily="34" charset="0"/>
            </a:endParaRP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FUNCTION</a:t>
            </a: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- Narrative lens / counterforce</a:t>
            </a:r>
          </a:p>
          <a:p>
            <a:endParaRPr lang="en-US" sz="2000">
              <a:solidFill>
                <a:srgbClr val="D7E3F5"/>
              </a:solidFill>
              <a:latin typeface="Segoe UI" panose="020B0502040204020203" pitchFamily="34" charset="0"/>
            </a:endParaRP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ARC</a:t>
            </a: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- Control -&gt; fracture -&gt; decision</a:t>
            </a:r>
          </a:p>
          <a:p>
            <a:endParaRPr lang="en-US" sz="2000">
              <a:solidFill>
                <a:srgbClr val="D7E3F5"/>
              </a:solidFill>
              <a:latin typeface="Segoe UI" panose="020B0502040204020203" pitchFamily="34" charset="0"/>
            </a:endParaRP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RISK</a:t>
            </a: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- Psychological / systemic compromise</a:t>
            </a:r>
          </a:p>
          <a:p>
            <a:endParaRPr lang="en-US" sz="2000">
              <a:solidFill>
                <a:srgbClr val="D7E3F5"/>
              </a:solidFill>
              <a:latin typeface="Segoe UI" panose="020B0502040204020203" pitchFamily="34" charset="0"/>
            </a:endParaRP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PAYOFF</a:t>
            </a: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- Ethical choice under cosmic pressure</a:t>
            </a:r>
            <a:endParaRPr lang="de-DE" sz="20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3956B53-2C05-498A-9302-3CFC561174F7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AC0C5BA-4747-4845-B20B-C3D4430D4511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A9B0E58-8DA8-44F2-8F3A-B78C416CA447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86671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ECE3628-4F03-4649-92C3-8A9022355CA0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1DE366E-621D-42FF-9BD7-ED3117A76FAA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A8678F8-4711-4CCA-9F95-20BBAE293B17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F193EED-3695-489D-8E44-6AFB4D3EC007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Character Profile: Dr. Lena Hartmann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50B5D11-ABEC-41D9-84A3-7B2424FDF9EF}"/>
              </a:ext>
            </a:extLst>
          </p:cNvPr>
          <p:cNvSpPr txBox="1"/>
          <p:nvPr/>
        </p:nvSpPr>
        <p:spPr>
          <a:xfrm>
            <a:off x="1168400" y="2159000"/>
            <a:ext cx="1295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Function: biological authority and ethical counterweight.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Sees Kellers physical anomaly and tracks escalating integration risk.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Arc: scientist-observer -&gt; moral decision-maker -&gt; controlled complicity.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3B6DC31-57E6-4B58-A57B-F9EA3BC602D5}"/>
              </a:ext>
            </a:extLst>
          </p:cNvPr>
          <p:cNvSpPr/>
          <p:nvPr/>
        </p:nvSpPr>
        <p:spPr>
          <a:xfrm>
            <a:off x="14986000" y="2921000"/>
            <a:ext cx="8382000" cy="8128000"/>
          </a:xfrm>
          <a:prstGeom prst="rect">
            <a:avLst/>
          </a:prstGeom>
          <a:solidFill>
            <a:srgbClr val="15263F">
              <a:alpha val="88000"/>
            </a:srgbClr>
          </a:solidFill>
          <a:ln w="19050">
            <a:solidFill>
              <a:srgbClr val="4F7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CE77980-C944-449C-9C80-2CF17A4A89CF}"/>
              </a:ext>
            </a:extLst>
          </p:cNvPr>
          <p:cNvSpPr txBox="1"/>
          <p:nvPr/>
        </p:nvSpPr>
        <p:spPr>
          <a:xfrm>
            <a:off x="15367000" y="3302000"/>
            <a:ext cx="7620000" cy="40934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CHARACTER TRACK</a:t>
            </a:r>
          </a:p>
          <a:p>
            <a:endParaRPr lang="en-US" sz="2000">
              <a:solidFill>
                <a:srgbClr val="D7E3F5"/>
              </a:solidFill>
              <a:latin typeface="Segoe UI" panose="020B0502040204020203" pitchFamily="34" charset="0"/>
            </a:endParaRP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FUNCTION</a:t>
            </a: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- Narrative lens / counterforce</a:t>
            </a:r>
          </a:p>
          <a:p>
            <a:endParaRPr lang="en-US" sz="2000">
              <a:solidFill>
                <a:srgbClr val="D7E3F5"/>
              </a:solidFill>
              <a:latin typeface="Segoe UI" panose="020B0502040204020203" pitchFamily="34" charset="0"/>
            </a:endParaRP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ARC</a:t>
            </a: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- Control -&gt; fracture -&gt; decision</a:t>
            </a:r>
          </a:p>
          <a:p>
            <a:endParaRPr lang="en-US" sz="2000">
              <a:solidFill>
                <a:srgbClr val="D7E3F5"/>
              </a:solidFill>
              <a:latin typeface="Segoe UI" panose="020B0502040204020203" pitchFamily="34" charset="0"/>
            </a:endParaRP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RISK</a:t>
            </a: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- Psychological / systemic compromise</a:t>
            </a:r>
          </a:p>
          <a:p>
            <a:endParaRPr lang="en-US" sz="2000">
              <a:solidFill>
                <a:srgbClr val="D7E3F5"/>
              </a:solidFill>
              <a:latin typeface="Segoe UI" panose="020B0502040204020203" pitchFamily="34" charset="0"/>
            </a:endParaRP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PAYOFF</a:t>
            </a: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- Ethical choice under cosmic pressure</a:t>
            </a:r>
            <a:endParaRPr lang="de-DE" sz="20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1E34BA7-9FF6-41A4-A726-8197DD39C6B8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52F7BC6-112F-40D3-BE08-9E92CDB9BCF2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585AC28-70A7-4A22-9721-F4EC826473EE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022521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71279E85-B64B-4003-8647-C666FACAF895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E6ABAE7-9A96-41B3-8E67-E7C1EE0ECF10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ED11B93-5E1B-4548-B091-A4207060745A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6A9EBC3-7A21-4F43-8B58-73BE9B2BC514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Character Profiles: Ensemble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B8AFE8B-5F5F-4DEA-9F5D-88DDDC60A065}"/>
              </a:ext>
            </a:extLst>
          </p:cNvPr>
          <p:cNvSpPr txBox="1"/>
          <p:nvPr/>
        </p:nvSpPr>
        <p:spPr>
          <a:xfrm>
            <a:off x="1168400" y="2159000"/>
            <a:ext cx="12954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Baranov: operational realism; buys time through hard tactical choices.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Sato: systems interpreter; names the threat model before anyone else.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Lund: extraction discipline under weather pressure; does not abandon the team.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Alvarez: audience fear proxy; disappearance marks narrative cost.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5DFB642-D6C8-4AAA-9E61-29BFB0F2285E}"/>
              </a:ext>
            </a:extLst>
          </p:cNvPr>
          <p:cNvSpPr/>
          <p:nvPr/>
        </p:nvSpPr>
        <p:spPr>
          <a:xfrm>
            <a:off x="14986000" y="2921000"/>
            <a:ext cx="8382000" cy="8128000"/>
          </a:xfrm>
          <a:prstGeom prst="rect">
            <a:avLst/>
          </a:prstGeom>
          <a:solidFill>
            <a:srgbClr val="15263F">
              <a:alpha val="88000"/>
            </a:srgbClr>
          </a:solidFill>
          <a:ln w="19050">
            <a:solidFill>
              <a:srgbClr val="4F7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169A76B-2E8E-4BDE-AA81-DC89A6DC010B}"/>
              </a:ext>
            </a:extLst>
          </p:cNvPr>
          <p:cNvSpPr txBox="1"/>
          <p:nvPr/>
        </p:nvSpPr>
        <p:spPr>
          <a:xfrm>
            <a:off x="15367000" y="3302000"/>
            <a:ext cx="7620000" cy="40934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CHARACTER TRACK</a:t>
            </a:r>
          </a:p>
          <a:p>
            <a:endParaRPr lang="en-US" sz="2000">
              <a:solidFill>
                <a:srgbClr val="D7E3F5"/>
              </a:solidFill>
              <a:latin typeface="Segoe UI" panose="020B0502040204020203" pitchFamily="34" charset="0"/>
            </a:endParaRP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FUNCTION</a:t>
            </a: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- Narrative lens / counterforce</a:t>
            </a:r>
          </a:p>
          <a:p>
            <a:endParaRPr lang="en-US" sz="2000">
              <a:solidFill>
                <a:srgbClr val="D7E3F5"/>
              </a:solidFill>
              <a:latin typeface="Segoe UI" panose="020B0502040204020203" pitchFamily="34" charset="0"/>
            </a:endParaRP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ARC</a:t>
            </a: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- Control -&gt; fracture -&gt; decision</a:t>
            </a:r>
          </a:p>
          <a:p>
            <a:endParaRPr lang="en-US" sz="2000">
              <a:solidFill>
                <a:srgbClr val="D7E3F5"/>
              </a:solidFill>
              <a:latin typeface="Segoe UI" panose="020B0502040204020203" pitchFamily="34" charset="0"/>
            </a:endParaRP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RISK</a:t>
            </a: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- Psychological / systemic compromise</a:t>
            </a:r>
          </a:p>
          <a:p>
            <a:endParaRPr lang="en-US" sz="2000">
              <a:solidFill>
                <a:srgbClr val="D7E3F5"/>
              </a:solidFill>
              <a:latin typeface="Segoe UI" panose="020B0502040204020203" pitchFamily="34" charset="0"/>
            </a:endParaRP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PAYOFF</a:t>
            </a: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- Ethical choice under cosmic pressure</a:t>
            </a:r>
            <a:endParaRPr lang="de-DE" sz="20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3ED53A0-065F-482D-93E3-486F95AA7563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B6AF8E5-D47D-45E9-874C-DC496809EEAC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0A5B6C0-C355-4E3C-B02B-516C7CAC3A3C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148769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49CF353-BF3D-4AC7-AB77-5E4CE050A608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5C9E8C8-BF35-4648-9A5B-A32B940CABFE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752E3F5-E4FB-498E-B64D-93C058D4BBAF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D6E4495-9909-4344-A4F6-E95E4D83E37D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Theme &amp; Revelation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3A50643-E210-4117-83A3-37D7D4C8C611}"/>
              </a:ext>
            </a:extLst>
          </p:cNvPr>
          <p:cNvSpPr txBox="1"/>
          <p:nvPr/>
        </p:nvSpPr>
        <p:spPr>
          <a:xfrm>
            <a:off x="1168400" y="2159000"/>
            <a:ext cx="1422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Core proposition: terror emerges from what is learned, not what attacks.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Revelation line: consciousness itself may be stress-tested across iterations.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Philosophical payload: the species asks if it was born or built.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14419A8-498C-43FB-AF65-22DA2B6BD15D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1107091-C197-4733-8551-10C3C6456FA9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F4300F7-D5B5-46B7-8C1E-E678F9BDD84A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80131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E35A6D1-AB39-4D02-95C6-8BC0BDCE8982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B22DBBF-B003-4554-9B9C-07FA252AAD68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9D7FC6D-E5BF-463B-8749-34BB82318394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13F8DC1-6FDB-4659-BBAF-87CB94D1BD90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600">
                <a:solidFill>
                  <a:srgbClr val="F2F7FF"/>
                </a:solidFill>
                <a:latin typeface="Segoe UI Semibold" panose="020B0702040204020203" pitchFamily="34" charset="0"/>
              </a:rPr>
              <a:t>Entity Behavior Rules (Tone Lock)</a:t>
            </a:r>
            <a:endParaRPr lang="de-DE" sz="4600">
              <a:solidFill>
                <a:srgbClr val="F2F7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F0C8AD3-F9FB-4450-B027-C34AFAED8A03}"/>
              </a:ext>
            </a:extLst>
          </p:cNvPr>
          <p:cNvSpPr txBox="1"/>
          <p:nvPr/>
        </p:nvSpPr>
        <p:spPr>
          <a:xfrm>
            <a:off x="1168400" y="2159000"/>
            <a:ext cx="14224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Entity grammar is procedural: observe -&gt; approach -&gt; measure -&gt; disengage.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Elder Thing reads as analyzer/protocol executor; Shoggoth reads as adaptive instrument, not free predator.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No slasher cadence: no jump-lunge blocking, no roar language, no chase-for-sport behavior.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Tone guardrail: if a beat reads as "monster attack," staging/audio/VFX are out of policy.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Department policy source: `assets/23_ENTITY_BEHAVIOR_RULE_SET.md`.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5141552-5414-47BB-95EA-86B1FE821F29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880E7CB-9B38-4DA1-BDFC-3DD9DD8322B7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B235913-D8F8-4D14-8418-846AEA15388D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80407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E770BB5-8590-42F0-BCC6-B20ADDDB86F6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A5687B6-30D4-4EA6-8571-AF6B09EC224A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F0C91A0-6C29-4E09-AA41-75C694DC240D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B35CEC-C739-464B-B456-51204C21FFE4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Visual Direction: North Star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BF6FAFB-398C-4E47-933A-16A563826461}"/>
              </a:ext>
            </a:extLst>
          </p:cNvPr>
          <p:cNvSpPr txBox="1"/>
          <p:nvPr/>
        </p:nvSpPr>
        <p:spPr>
          <a:xfrm>
            <a:off x="1168400" y="2159000"/>
            <a:ext cx="1295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Exterior world: hostile blankness; interior world: intentional geometry.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Production design prioritizes precision, not chaos.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The frame should feel clinically observed by an older intelligence.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03112FF-A033-4DAE-B6EF-AD3C9DAFD156}"/>
              </a:ext>
            </a:extLst>
          </p:cNvPr>
          <p:cNvSpPr/>
          <p:nvPr/>
        </p:nvSpPr>
        <p:spPr>
          <a:xfrm>
            <a:off x="14986000" y="2667000"/>
            <a:ext cx="8382000" cy="8890000"/>
          </a:xfrm>
          <a:prstGeom prst="rect">
            <a:avLst/>
          </a:prstGeom>
          <a:solidFill>
            <a:srgbClr val="15263F">
              <a:alpha val="85000"/>
            </a:srgbClr>
          </a:solidFill>
          <a:ln w="25400">
            <a:solidFill>
              <a:srgbClr val="36D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C0A53B3-31A9-4F5E-B6B2-1F5C29D724E5}"/>
              </a:ext>
            </a:extLst>
          </p:cNvPr>
          <p:cNvSpPr txBox="1"/>
          <p:nvPr/>
        </p:nvSpPr>
        <p:spPr>
          <a:xfrm>
            <a:off x="15430500" y="3111500"/>
            <a:ext cx="7493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36D6FF"/>
                </a:solidFill>
                <a:latin typeface="Segoe UI Semibold" panose="020B0702040204020203" pitchFamily="34" charset="0"/>
              </a:rPr>
              <a:t>KEY ART PLACEHOLDER</a:t>
            </a:r>
          </a:p>
          <a:p>
            <a:r>
              <a:rPr lang="en-US" sz="2000">
                <a:solidFill>
                  <a:srgbClr val="36D6FF"/>
                </a:solidFill>
                <a:latin typeface="Segoe UI Semibold" panose="020B0702040204020203" pitchFamily="34" charset="0"/>
              </a:rPr>
              <a:t>MOOD: SCALE | VOID | ENGINEERED DREAD</a:t>
            </a:r>
            <a:endParaRPr lang="de-DE" sz="2000">
              <a:solidFill>
                <a:srgbClr val="36D6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BB455E3-6AEA-4B0A-808B-041E7063AD98}"/>
              </a:ext>
            </a:extLst>
          </p:cNvPr>
          <p:cNvSpPr/>
          <p:nvPr/>
        </p:nvSpPr>
        <p:spPr>
          <a:xfrm>
            <a:off x="15430500" y="5080000"/>
            <a:ext cx="7493000" cy="5905500"/>
          </a:xfrm>
          <a:prstGeom prst="rect">
            <a:avLst/>
          </a:prstGeom>
          <a:solidFill>
            <a:srgbClr val="111E33">
              <a:alpha val="75000"/>
            </a:srgbClr>
          </a:solidFill>
          <a:ln>
            <a:solidFill>
              <a:srgbClr val="4F719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DE72C3C-9DE7-4978-9C96-AC1F5BEF70A9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2DC7170-0231-4869-A01B-A5EB258689E2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209CFBA-2DDC-4E43-96FF-F0ACF2E15BF2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432194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8E06813-A8AA-4442-9823-FE37F2EF9FFD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10AD89E-AF21-47B5-A111-613EC4772A9A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CB5E43B-A832-4B7E-804E-607DFD57D274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4C41A93-4666-4B64-BFF6-18F89ED7766C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600">
                <a:solidFill>
                  <a:srgbClr val="F2F7FF"/>
                </a:solidFill>
                <a:latin typeface="Segoe UI Semibold" panose="020B0702040204020203" pitchFamily="34" charset="0"/>
              </a:rPr>
              <a:t>Visual Direction: Color, Texture, Light</a:t>
            </a:r>
            <a:endParaRPr lang="de-DE" sz="4600">
              <a:solidFill>
                <a:srgbClr val="F2F7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5415D4E-AF21-4D42-B942-D7A096222F27}"/>
              </a:ext>
            </a:extLst>
          </p:cNvPr>
          <p:cNvSpPr txBox="1"/>
          <p:nvPr/>
        </p:nvSpPr>
        <p:spPr>
          <a:xfrm>
            <a:off x="1168400" y="2159000"/>
            <a:ext cx="1422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Palette: glacial white, carbon black, oxidized steel, emergency amber, arterial red accents.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Texture language: fibrous living composites, surgical cuts, data-like wall reliefs.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Lighting strategy: practical motivated sources plus deep negative space.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9731AD1-AF73-4DBB-96B6-FDA5B7F6E997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B378F39-F87D-414C-91E0-AE5ECA84583E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A2FFB17-3A60-4312-92B5-BDCA18905279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421651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F93A74B4-1ED8-4A0F-A49D-142EE2BDE930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5AD1600-A08C-46CD-94E9-FF2707F04DFB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BAB3F90-EEF0-49F1-8BE0-8AAF0CD36F8C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9EE7C80-A57D-4176-AE6C-42D7D81B8274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Visual Direction: Camera &amp; Motion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95F7A02-8A45-4DFE-9C19-7B8A84A880C7}"/>
              </a:ext>
            </a:extLst>
          </p:cNvPr>
          <p:cNvSpPr txBox="1"/>
          <p:nvPr/>
        </p:nvSpPr>
        <p:spPr>
          <a:xfrm>
            <a:off x="1168400" y="2159000"/>
            <a:ext cx="1422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Act I: distant observational compositions.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Act II: increasing axial pressure and spatial distortion.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Act III: compressed movement, corridor urgency, objective panic control.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7CC48E4-D124-4C4F-923D-B789BC3C9C7B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B542349-817D-4B0E-98AB-537BFCD51FA4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6D10EE4-094E-4428-83F6-E758027D8DE7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84305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A605CDD-22D6-4C46-A087-4360F41D63A6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0A38634-EBF0-4995-8E0C-D97BAF64F15B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B195EF4-EA61-458D-ACC6-BEEC9B5F738C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F4CA565-5E3A-4A64-809D-F043F4406F9C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Production Scope: Feature Envelope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0D2C05E-ED7C-4B27-A41D-02882A6C33B5}"/>
              </a:ext>
            </a:extLst>
          </p:cNvPr>
          <p:cNvSpPr txBox="1"/>
          <p:nvPr/>
        </p:nvSpPr>
        <p:spPr>
          <a:xfrm>
            <a:off x="1168400" y="2159000"/>
            <a:ext cx="1422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Format: 2.39:1 theatrical master, premium sound design, international day-and-date potential.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Target runtime: 115-125 minutes.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Rating target: R for thematic intensity and scientific body-horror implications.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D186C3E-D2EA-44F3-9620-869F71807603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0F77D49-6C41-4CB9-8C84-3B3AFE842DA8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76BB576-0D8E-46C4-983F-6F551A026F67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991384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767C6263-BA5E-4C5B-94F2-30A70BD677C3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F236606-4D09-4FC7-AC10-E9F45497861F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D30A353-0B5D-47DD-A8EF-B6CDC2A6EF7A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2422C7B-ECC5-4B39-9199-F440FA288CDE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600">
                <a:solidFill>
                  <a:srgbClr val="F2F7FF"/>
                </a:solidFill>
                <a:latin typeface="Segoe UI Semibold" panose="020B0702040204020203" pitchFamily="34" charset="0"/>
              </a:rPr>
              <a:t>Production Scope: Budget / Schedule / VFX</a:t>
            </a:r>
            <a:endParaRPr lang="de-DE" sz="4600">
              <a:solidFill>
                <a:srgbClr val="F2F7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2BBE110-0860-448F-B11D-8A56412C3EA4}"/>
              </a:ext>
            </a:extLst>
          </p:cNvPr>
          <p:cNvSpPr txBox="1"/>
          <p:nvPr/>
        </p:nvSpPr>
        <p:spPr>
          <a:xfrm>
            <a:off x="1168400" y="2159000"/>
            <a:ext cx="1422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Budget Scenario A (contained prestige): USD 45M-55M.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Budget Scenario B (expanded spectacle): USD 60M-75M.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Shoot: 55-65 principal days; VFX: 450-650 shots with practical-first pipeline.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7E9105A-E881-49CA-A3F9-CA3FFD65433E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4431DD8-9FFE-4E2F-A6EF-454F6F4C5C0F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BDED3C7-6104-4DC6-9291-E248B6E34F39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18432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154B2DC-ABD1-46EA-B532-5A0D900B4657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9B84FBD-4923-4BC9-9043-A7765ECC5BBB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9986074-F73F-431B-9721-C9975CF89D7C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E670421-0047-463B-948D-D3F28423CA93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Production Scope: Execution Plan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486E1C5-C29E-453D-8701-DBDCC00E5CA9}"/>
              </a:ext>
            </a:extLst>
          </p:cNvPr>
          <p:cNvSpPr txBox="1"/>
          <p:nvPr/>
        </p:nvSpPr>
        <p:spPr>
          <a:xfrm>
            <a:off x="1168400" y="2159000"/>
            <a:ext cx="1422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Stage-led tunnel and chamber builds with controlled exterior unit.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Previs required for descent, chamber reveal, and mirror-ending cycle shot.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Risk mitigation: modular sets, plate library, early VFX asset lock.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F4D9651-3E59-4CAE-B210-ED97E85A0BAE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A5446C6-637A-47E1-9E81-A44524D57EE1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595B423-A352-4FB7-87D9-032EEC292317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23339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CBC471C-D39F-4B7D-9603-82A066484DB7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D9D28B7-01AC-4994-A838-0B7633CCE2C0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09A374D-5D95-4E4C-B2B8-0A701A7815A2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9DD942D-8741-430D-9302-1AF1C1673FE0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Market Positioning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C67B023-BF69-4D17-AC3C-222C0DBBE3EC}"/>
              </a:ext>
            </a:extLst>
          </p:cNvPr>
          <p:cNvSpPr txBox="1"/>
          <p:nvPr/>
        </p:nvSpPr>
        <p:spPr>
          <a:xfrm>
            <a:off x="1168400" y="2159000"/>
            <a:ext cx="1422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Audience: prestige sci-fi/horror global quadrant 18-49 + premium streaming long-tail.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Positioning: elevated cosmic thriller with emotional anchor, not franchise-dependent lore overload.</a:t>
            </a:r>
          </a:p>
          <a:p>
            <a:r>
              <a:rPr lang="de-DE" sz="2400">
                <a:solidFill>
                  <a:srgbClr val="D7E3F5"/>
                </a:solidFill>
                <a:latin typeface="Segoe UI" panose="020B0502040204020203" pitchFamily="34" charset="0"/>
              </a:rPr>
              <a:t>• Comp space: Arrival x The Thing x Annihilation, with harder systems-horror edge.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671E53B-2753-41D6-BA2B-511CE641D8B3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499FCC2-0741-4B6F-B32E-EFB194A0A541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BC1972B-140F-4130-9AA3-57ED2CF8BFCB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686939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B81E2F4-14C2-4121-B033-1F922190BA21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8E9B7C8-8DD9-4B18-B7C3-0AC7DF0E0653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E35F966-3C69-487D-B8E1-6C15CFEDB9D3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75CB77F-9BBE-4900-9D48-D629397C787C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600">
                <a:solidFill>
                  <a:srgbClr val="F2F7FF"/>
                </a:solidFill>
                <a:latin typeface="Segoe UI Semibold" panose="020B0702040204020203" pitchFamily="34" charset="0"/>
              </a:rPr>
              <a:t>Why This Film Will Make Money</a:t>
            </a:r>
            <a:endParaRPr lang="de-DE" sz="4600">
              <a:solidFill>
                <a:srgbClr val="F2F7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25B23EE-359D-4B5E-9B58-1B422A1C8B80}"/>
              </a:ext>
            </a:extLst>
          </p:cNvPr>
          <p:cNvSpPr txBox="1"/>
          <p:nvPr/>
        </p:nvSpPr>
        <p:spPr>
          <a:xfrm>
            <a:off x="1143000" y="2159000"/>
            <a:ext cx="10668000" cy="212365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200">
                <a:solidFill>
                  <a:srgbClr val="D7E3F5"/>
                </a:solidFill>
                <a:latin typeface="Segoe UI" panose="020B0502040204020203" pitchFamily="34" charset="0"/>
              </a:rPr>
              <a:t>• Commercial lane is proven: elevated sci-fi/horror can overperform when concept and tone are clear.</a:t>
            </a:r>
          </a:p>
          <a:p>
            <a:r>
              <a:rPr lang="de-DE" sz="2200">
                <a:solidFill>
                  <a:srgbClr val="D7E3F5"/>
                </a:solidFill>
                <a:latin typeface="Segoe UI" panose="020B0502040204020203" pitchFamily="34" charset="0"/>
              </a:rPr>
              <a:t>• Revenue stack is multi-window: theatrical awareness + premium streaming long-tail + evergreen library value.</a:t>
            </a:r>
          </a:p>
          <a:p>
            <a:r>
              <a:rPr lang="de-DE" sz="2200">
                <a:solidFill>
                  <a:srgbClr val="D7E3F5"/>
                </a:solidFill>
                <a:latin typeface="Segoe UI" panose="020B0502040204020203" pitchFamily="34" charset="0"/>
              </a:rPr>
              <a:t>• Budget discipline keeps downside protected while preserving upside from global genre audiences.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0CD96EA-3A1B-4E33-8229-241D9A1AADA2}"/>
              </a:ext>
            </a:extLst>
          </p:cNvPr>
          <p:cNvSpPr/>
          <p:nvPr/>
        </p:nvSpPr>
        <p:spPr>
          <a:xfrm>
            <a:off x="1016000" y="5969000"/>
            <a:ext cx="22352000" cy="4953000"/>
          </a:xfrm>
          <a:prstGeom prst="rect">
            <a:avLst/>
          </a:prstGeom>
          <a:solidFill>
            <a:srgbClr val="15263F">
              <a:alpha val="90000"/>
            </a:srgbClr>
          </a:solidFill>
          <a:ln w="22860">
            <a:solidFill>
              <a:srgbClr val="36D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F218852A-9B0F-43C4-BAA9-B0E0C6ACF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923918"/>
              </p:ext>
            </p:extLst>
          </p:nvPr>
        </p:nvGraphicFramePr>
        <p:xfrm>
          <a:off x="1460500" y="6604000"/>
          <a:ext cx="16256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67">
                  <a:extLst>
                    <a:ext uri="{9D8B030D-6E8A-4147-A177-3AD203B41FA5}">
                      <a16:colId xmlns:a16="http://schemas.microsoft.com/office/drawing/2014/main" val="1203131893"/>
                    </a:ext>
                  </a:extLst>
                </a:gridCol>
                <a:gridCol w="5418667">
                  <a:extLst>
                    <a:ext uri="{9D8B030D-6E8A-4147-A177-3AD203B41FA5}">
                      <a16:colId xmlns:a16="http://schemas.microsoft.com/office/drawing/2014/main" val="940581019"/>
                    </a:ext>
                  </a:extLst>
                </a:gridCol>
                <a:gridCol w="5418667">
                  <a:extLst>
                    <a:ext uri="{9D8B030D-6E8A-4147-A177-3AD203B41FA5}">
                      <a16:colId xmlns:a16="http://schemas.microsoft.com/office/drawing/2014/main" val="4231240914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B1322"/>
                          </a:solidFill>
                          <a:latin typeface="Segoe UI Semibold" panose="020B0702040204020203" pitchFamily="34" charset="0"/>
                        </a:rPr>
                        <a:t>Comparable Film</a:t>
                      </a:r>
                    </a:p>
                  </a:txBody>
                  <a:tcPr>
                    <a:solidFill>
                      <a:srgbClr val="36D6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B1322"/>
                          </a:solidFill>
                          <a:latin typeface="Segoe UI Semibold" panose="020B0702040204020203" pitchFamily="34" charset="0"/>
                        </a:rPr>
                        <a:t>Budget</a:t>
                      </a:r>
                    </a:p>
                  </a:txBody>
                  <a:tcPr>
                    <a:solidFill>
                      <a:srgbClr val="36D6FF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solidFill>
                            <a:srgbClr val="0B1322"/>
                          </a:solidFill>
                          <a:latin typeface="Segoe UI Semibold" panose="020B0702040204020203" pitchFamily="34" charset="0"/>
                        </a:rPr>
                        <a:t>Revenue / Value Signal</a:t>
                      </a:r>
                    </a:p>
                  </a:txBody>
                  <a:tcPr>
                    <a:solidFill>
                      <a:srgbClr val="36D6FF">
                        <a:alpha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9314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r>
                        <a:rPr lang="de-DE" sz="15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Annihilation</a:t>
                      </a:r>
                    </a:p>
                  </a:txBody>
                  <a:tcPr>
                    <a:solidFill>
                      <a:srgbClr val="111E33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USD 55M</a:t>
                      </a:r>
                    </a:p>
                  </a:txBody>
                  <a:tcPr>
                    <a:solidFill>
                      <a:srgbClr val="111E33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USD 43M theatrical + strong streaming long-tail value</a:t>
                      </a:r>
                      <a:endParaRPr lang="de-DE" sz="1500">
                        <a:solidFill>
                          <a:srgbClr val="D7E3F5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111E33">
                        <a:alpha val="8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10578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r>
                        <a:rPr lang="de-DE" sz="15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Arrival</a:t>
                      </a:r>
                    </a:p>
                  </a:txBody>
                  <a:tcPr>
                    <a:solidFill>
                      <a:srgbClr val="111E33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USD 47M</a:t>
                      </a:r>
                    </a:p>
                  </a:txBody>
                  <a:tcPr>
                    <a:solidFill>
                      <a:srgbClr val="111E33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USD 203M worldwide theatrical</a:t>
                      </a:r>
                    </a:p>
                  </a:txBody>
                  <a:tcPr>
                    <a:solidFill>
                      <a:srgbClr val="111E33">
                        <a:alpha val="8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96861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r>
                        <a:rPr lang="de-DE" sz="15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The Thing</a:t>
                      </a:r>
                    </a:p>
                  </a:txBody>
                  <a:tcPr>
                    <a:solidFill>
                      <a:srgbClr val="111E33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5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USD 15M</a:t>
                      </a:r>
                    </a:p>
                  </a:txBody>
                  <a:tcPr>
                    <a:solidFill>
                      <a:srgbClr val="111E33">
                        <a:alpha val="8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Cult evergreen library value across decades</a:t>
                      </a:r>
                      <a:endParaRPr lang="de-DE" sz="1500">
                        <a:solidFill>
                          <a:srgbClr val="D7E3F5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111E33">
                        <a:alpha val="8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370001"/>
                  </a:ext>
                </a:extLst>
              </a:tr>
            </a:tbl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D7D30A86-1260-4A80-A426-F15E352EF59E}"/>
              </a:ext>
            </a:extLst>
          </p:cNvPr>
          <p:cNvSpPr/>
          <p:nvPr/>
        </p:nvSpPr>
        <p:spPr>
          <a:xfrm>
            <a:off x="17970500" y="6604000"/>
            <a:ext cx="4953000" cy="3810000"/>
          </a:xfrm>
          <a:prstGeom prst="rect">
            <a:avLst/>
          </a:prstGeom>
          <a:solidFill>
            <a:srgbClr val="111E33">
              <a:alpha val="90000"/>
            </a:srgbClr>
          </a:solidFill>
          <a:ln w="19050">
            <a:solidFill>
              <a:srgbClr val="4F7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898145E-CED0-44C5-ADE0-F28402245FFF}"/>
              </a:ext>
            </a:extLst>
          </p:cNvPr>
          <p:cNvSpPr txBox="1"/>
          <p:nvPr/>
        </p:nvSpPr>
        <p:spPr>
          <a:xfrm>
            <a:off x="18288000" y="6921500"/>
            <a:ext cx="4318000" cy="182101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D7E3F5"/>
                </a:solidFill>
                <a:latin typeface="Segoe UI" panose="020B0502040204020203" pitchFamily="34" charset="0"/>
              </a:rPr>
              <a:t>RETURN POTENTIAL</a:t>
            </a:r>
          </a:p>
          <a:p>
            <a:endParaRPr lang="en-US" sz="1400">
              <a:solidFill>
                <a:srgbClr val="D7E3F5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D7E3F5"/>
                </a:solidFill>
                <a:latin typeface="Segoe UI" panose="020B0502040204020203" pitchFamily="34" charset="0"/>
              </a:rPr>
              <a:t>• Base Case: contained prestige delivery with durable streaming shelf life.</a:t>
            </a:r>
          </a:p>
          <a:p>
            <a:r>
              <a:rPr lang="en-US" sz="1400">
                <a:solidFill>
                  <a:srgbClr val="D7E3F5"/>
                </a:solidFill>
                <a:latin typeface="Segoe UI" panose="020B0502040204020203" pitchFamily="34" charset="0"/>
              </a:rPr>
              <a:t>• Upside Case: Arrival-like theatrical breakout if campaign leads with concept + emotion.</a:t>
            </a:r>
          </a:p>
          <a:p>
            <a:r>
              <a:rPr lang="en-US" sz="1400">
                <a:solidFill>
                  <a:srgbClr val="D7E3F5"/>
                </a:solidFill>
                <a:latin typeface="Segoe UI" panose="020B0502040204020203" pitchFamily="34" charset="0"/>
              </a:rPr>
              <a:t>• Strategic Case: catalog-value title with recurring seasonal and platform relevance.</a:t>
            </a:r>
            <a:endParaRPr lang="de-DE" sz="1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CC78563-DF40-4F49-9CD5-363E51CF182E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E6AD8EE-8BD6-4DFD-9003-4B3CDD30BA52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F6903F4-6667-4ECF-9176-7C16100CB044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801010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14FCA6D-46E6-4F88-99A3-F60490CEE476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575847F-C653-42FE-822F-4204231DCCBF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EE13101-7D6A-4356-8CA4-F17B3FA27051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A1AB2FE-420A-49A8-B54C-734E96C57195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Risk Mitigation + Break-even Scenarios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D047427-13EB-407F-BCC8-28A7F1E59597}"/>
              </a:ext>
            </a:extLst>
          </p:cNvPr>
          <p:cNvSpPr txBox="1"/>
          <p:nvPr/>
        </p:nvSpPr>
        <p:spPr>
          <a:xfrm>
            <a:off x="1143000" y="2159000"/>
            <a:ext cx="22098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• Financing logic is built around contained downside and multi-window upside.</a:t>
            </a: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• Break-even model below is indicative and campaign-dependent (P&amp;A, MGs, and output terms vary by deal).</a:t>
            </a:r>
          </a:p>
          <a:p>
            <a:r>
              <a:rPr lang="en-US" sz="2000">
                <a:solidFill>
                  <a:srgbClr val="D7E3F5"/>
                </a:solidFill>
                <a:latin typeface="Segoe UI" panose="020B0502040204020203" pitchFamily="34" charset="0"/>
              </a:rPr>
              <a:t>• Design choice: practical-first production and stage control reduce execution variance.</a:t>
            </a:r>
            <a:endParaRPr lang="de-DE" sz="20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D2292FE-47A2-487A-9E71-775EF58F722D}"/>
              </a:ext>
            </a:extLst>
          </p:cNvPr>
          <p:cNvSpPr/>
          <p:nvPr/>
        </p:nvSpPr>
        <p:spPr>
          <a:xfrm>
            <a:off x="1016000" y="4826000"/>
            <a:ext cx="22352000" cy="3810000"/>
          </a:xfrm>
          <a:prstGeom prst="rect">
            <a:avLst/>
          </a:prstGeom>
          <a:solidFill>
            <a:srgbClr val="15263F">
              <a:alpha val="92000"/>
            </a:srgbClr>
          </a:solidFill>
          <a:ln w="22860">
            <a:solidFill>
              <a:srgbClr val="36D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E264B867-297E-46B4-AA15-F0E3B1DB5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077595"/>
              </p:ext>
            </p:extLst>
          </p:nvPr>
        </p:nvGraphicFramePr>
        <p:xfrm>
          <a:off x="1270000" y="5143500"/>
          <a:ext cx="219710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2750">
                  <a:extLst>
                    <a:ext uri="{9D8B030D-6E8A-4147-A177-3AD203B41FA5}">
                      <a16:colId xmlns:a16="http://schemas.microsoft.com/office/drawing/2014/main" val="272744431"/>
                    </a:ext>
                  </a:extLst>
                </a:gridCol>
                <a:gridCol w="5492750">
                  <a:extLst>
                    <a:ext uri="{9D8B030D-6E8A-4147-A177-3AD203B41FA5}">
                      <a16:colId xmlns:a16="http://schemas.microsoft.com/office/drawing/2014/main" val="206074853"/>
                    </a:ext>
                  </a:extLst>
                </a:gridCol>
                <a:gridCol w="5492750">
                  <a:extLst>
                    <a:ext uri="{9D8B030D-6E8A-4147-A177-3AD203B41FA5}">
                      <a16:colId xmlns:a16="http://schemas.microsoft.com/office/drawing/2014/main" val="725259493"/>
                    </a:ext>
                  </a:extLst>
                </a:gridCol>
                <a:gridCol w="5492750">
                  <a:extLst>
                    <a:ext uri="{9D8B030D-6E8A-4147-A177-3AD203B41FA5}">
                      <a16:colId xmlns:a16="http://schemas.microsoft.com/office/drawing/2014/main" val="1834721284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0B1322"/>
                          </a:solidFill>
                          <a:latin typeface="Segoe UI Semibold" panose="020B0702040204020203" pitchFamily="34" charset="0"/>
                        </a:rPr>
                        <a:t>Scenario</a:t>
                      </a:r>
                    </a:p>
                  </a:txBody>
                  <a:tcPr>
                    <a:solidFill>
                      <a:srgbClr val="36D6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0B1322"/>
                          </a:solidFill>
                          <a:latin typeface="Segoe UI Semibold" panose="020B0702040204020203" pitchFamily="34" charset="0"/>
                        </a:rPr>
                        <a:t>Production Budget</a:t>
                      </a:r>
                    </a:p>
                  </a:txBody>
                  <a:tcPr>
                    <a:solidFill>
                      <a:srgbClr val="36D6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0B1322"/>
                          </a:solidFill>
                          <a:latin typeface="Segoe UI Semibold" panose="020B0702040204020203" pitchFamily="34" charset="0"/>
                        </a:rPr>
                        <a:t>Indicative Break-even Range</a:t>
                      </a:r>
                    </a:p>
                  </a:txBody>
                  <a:tcPr>
                    <a:solidFill>
                      <a:srgbClr val="36D6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0B1322"/>
                          </a:solidFill>
                          <a:latin typeface="Segoe UI Semibold" panose="020B0702040204020203" pitchFamily="34" charset="0"/>
                        </a:rPr>
                        <a:t>Value Signal</a:t>
                      </a:r>
                    </a:p>
                  </a:txBody>
                  <a:tcPr>
                    <a:solidFill>
                      <a:srgbClr val="36D6FF">
                        <a:alpha val="9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462468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lang="de-DE" sz="13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Low Case</a:t>
                      </a:r>
                    </a:p>
                  </a:txBody>
                  <a:tcPr>
                    <a:solidFill>
                      <a:srgbClr val="111E33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3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USD 45M</a:t>
                      </a:r>
                    </a:p>
                  </a:txBody>
                  <a:tcPr>
                    <a:solidFill>
                      <a:srgbClr val="111E33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USD 95M-115M global gross equivalent</a:t>
                      </a:r>
                      <a:endParaRPr lang="de-DE" sz="1300">
                        <a:solidFill>
                          <a:srgbClr val="D7E3F5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111E33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Strong streamer package + controlled P&amp;A</a:t>
                      </a:r>
                      <a:endParaRPr lang="de-DE" sz="1300">
                        <a:solidFill>
                          <a:srgbClr val="D7E3F5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111E33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278113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lang="de-DE" sz="13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Mid Case</a:t>
                      </a:r>
                    </a:p>
                  </a:txBody>
                  <a:tcPr>
                    <a:solidFill>
                      <a:srgbClr val="111E33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3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USD 55M</a:t>
                      </a:r>
                    </a:p>
                  </a:txBody>
                  <a:tcPr>
                    <a:solidFill>
                      <a:srgbClr val="111E33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USD 120M-145M global gross equivalent</a:t>
                      </a:r>
                      <a:endParaRPr lang="de-DE" sz="1300">
                        <a:solidFill>
                          <a:srgbClr val="D7E3F5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111E33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Balanced theatrical + premium VOD tail</a:t>
                      </a:r>
                      <a:endParaRPr lang="de-DE" sz="1300">
                        <a:solidFill>
                          <a:srgbClr val="D7E3F5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111E33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932772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lang="de-DE" sz="13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High Case</a:t>
                      </a:r>
                    </a:p>
                  </a:txBody>
                  <a:tcPr>
                    <a:solidFill>
                      <a:srgbClr val="111E33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3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USD 70M</a:t>
                      </a:r>
                    </a:p>
                  </a:txBody>
                  <a:tcPr>
                    <a:solidFill>
                      <a:srgbClr val="111E33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USD 155M-190M global gross equivalent</a:t>
                      </a:r>
                      <a:endParaRPr lang="de-DE" sz="1300">
                        <a:solidFill>
                          <a:srgbClr val="D7E3F5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111E33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300">
                          <a:solidFill>
                            <a:srgbClr val="D7E3F5"/>
                          </a:solidFill>
                          <a:latin typeface="Segoe UI" panose="020B0502040204020203" pitchFamily="34" charset="0"/>
                        </a:rPr>
                        <a:t>Event positioning + global marketing support</a:t>
                      </a:r>
                    </a:p>
                  </a:txBody>
                  <a:tcPr>
                    <a:solidFill>
                      <a:srgbClr val="111E33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07806"/>
                  </a:ext>
                </a:extLst>
              </a:tr>
            </a:tbl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D37051BB-E6DE-4498-ACB9-F1EA59266A47}"/>
              </a:ext>
            </a:extLst>
          </p:cNvPr>
          <p:cNvSpPr/>
          <p:nvPr/>
        </p:nvSpPr>
        <p:spPr>
          <a:xfrm>
            <a:off x="1016000" y="9017000"/>
            <a:ext cx="22352000" cy="2794000"/>
          </a:xfrm>
          <a:prstGeom prst="rect">
            <a:avLst/>
          </a:prstGeom>
          <a:solidFill>
            <a:srgbClr val="111E33">
              <a:alpha val="93000"/>
            </a:srgbClr>
          </a:solidFill>
          <a:ln w="17780">
            <a:solidFill>
              <a:srgbClr val="4F71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E68BCB9-73BC-42C4-B23C-0BB49F1A5E82}"/>
              </a:ext>
            </a:extLst>
          </p:cNvPr>
          <p:cNvSpPr txBox="1"/>
          <p:nvPr/>
        </p:nvSpPr>
        <p:spPr>
          <a:xfrm>
            <a:off x="1397000" y="9334500"/>
            <a:ext cx="21590000" cy="138884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D7E3F5"/>
                </a:solidFill>
                <a:latin typeface="Segoe UI" panose="020B0502040204020203" pitchFamily="34" charset="0"/>
              </a:rPr>
              <a:t>RISK CONTROLS</a:t>
            </a:r>
          </a:p>
          <a:p>
            <a:endParaRPr lang="en-US" sz="1400">
              <a:solidFill>
                <a:srgbClr val="D7E3F5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D7E3F5"/>
                </a:solidFill>
                <a:latin typeface="Segoe UI" panose="020B0502040204020203" pitchFamily="34" charset="0"/>
              </a:rPr>
              <a:t>• Script and previs lock before VFX heavy sequences to prevent scope drift.</a:t>
            </a:r>
          </a:p>
          <a:p>
            <a:r>
              <a:rPr lang="en-US" sz="1400">
                <a:solidFill>
                  <a:srgbClr val="D7E3F5"/>
                </a:solidFill>
                <a:latin typeface="Segoe UI" panose="020B0502040204020203" pitchFamily="34" charset="0"/>
              </a:rPr>
              <a:t>• Modular set design to absorb schedule/weather disruption without reset cost.</a:t>
            </a:r>
          </a:p>
          <a:p>
            <a:r>
              <a:rPr lang="en-US" sz="1400">
                <a:solidFill>
                  <a:srgbClr val="D7E3F5"/>
                </a:solidFill>
                <a:latin typeface="Segoe UI" panose="020B0502040204020203" pitchFamily="34" charset="0"/>
              </a:rPr>
              <a:t>• Creature/architecture pipeline split across vendors with early asset approval gates.</a:t>
            </a:r>
          </a:p>
          <a:p>
            <a:r>
              <a:rPr lang="en-US" sz="1400">
                <a:solidFill>
                  <a:srgbClr val="D7E3F5"/>
                </a:solidFill>
                <a:latin typeface="Segoe UI" panose="020B0502040204020203" pitchFamily="34" charset="0"/>
              </a:rPr>
              <a:t>• Marketing angle anchored in concept + emotional hook (not pure creature campaign).</a:t>
            </a:r>
            <a:endParaRPr lang="de-DE" sz="1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E3B9574-F25D-4476-BD5B-2D7FA93ACF9A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93E226D-E8C2-489E-A603-6ADECAA8BC30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65CFC11-0CBE-45DD-BFFB-6361D2E0A221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491666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BA94C32-056D-4730-A750-49009841BA86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C468516-9299-4158-84BB-A861EAA4D739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F906309-EE87-4EAE-8054-46367AA2E16C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3A7C9EC-7E65-4F3E-B421-50F7DC657D65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Studio Ask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1A9EEC7-7C75-4065-9C75-9E73C0396A02}"/>
              </a:ext>
            </a:extLst>
          </p:cNvPr>
          <p:cNvSpPr txBox="1"/>
          <p:nvPr/>
        </p:nvSpPr>
        <p:spPr>
          <a:xfrm>
            <a:off x="1168400" y="2159000"/>
            <a:ext cx="1422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Approve full development package and packaging phase.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Deliverables in 8-10 weeks: budgeted production draft, lookbook, prelim VFX bid, locked schedule.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Packaging target: director with architectural tension command + dramatic lead for Keller.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5374985-0A32-41E3-BAD6-08B5F5BCDC82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2E32AF1-815F-45B6-A830-46FA18A1CD51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DEE0798-9CCC-449F-8614-23BB43AA714E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742219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727E08D-D756-4D30-A87F-6A52D59A775D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0B1322"/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A3A0774-B29A-48A1-BCA7-0A3D96E32713}"/>
              </a:ext>
            </a:extLst>
          </p:cNvPr>
          <p:cNvSpPr/>
          <p:nvPr/>
        </p:nvSpPr>
        <p:spPr>
          <a:xfrm>
            <a:off x="0" y="0"/>
            <a:ext cx="24384000" cy="127000"/>
          </a:xfrm>
          <a:prstGeom prst="rect">
            <a:avLst/>
          </a:prstGeom>
          <a:solidFill>
            <a:srgbClr val="36D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B45245F-767F-47C1-B043-D6CDF8636FDD}"/>
              </a:ext>
            </a:extLst>
          </p:cNvPr>
          <p:cNvSpPr/>
          <p:nvPr/>
        </p:nvSpPr>
        <p:spPr>
          <a:xfrm>
            <a:off x="17272000" y="0"/>
            <a:ext cx="7112000" cy="2540000"/>
          </a:xfrm>
          <a:prstGeom prst="rect">
            <a:avLst/>
          </a:prstGeom>
          <a:solidFill>
            <a:srgbClr val="36D6FF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CE91FAE-BB9D-47C2-8310-25535BE19E95}"/>
              </a:ext>
            </a:extLst>
          </p:cNvPr>
          <p:cNvSpPr txBox="1"/>
          <p:nvPr/>
        </p:nvSpPr>
        <p:spPr>
          <a:xfrm>
            <a:off x="990600" y="609600"/>
            <a:ext cx="20828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600">
                <a:solidFill>
                  <a:srgbClr val="F2F7FF"/>
                </a:solidFill>
                <a:latin typeface="Segoe UI Semibold" panose="020B0702040204020203" pitchFamily="34" charset="0"/>
              </a:rPr>
              <a:t>Closing Statement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EAD6775-C321-42C2-9FFD-EF61BD77341E}"/>
              </a:ext>
            </a:extLst>
          </p:cNvPr>
          <p:cNvSpPr txBox="1"/>
          <p:nvPr/>
        </p:nvSpPr>
        <p:spPr>
          <a:xfrm>
            <a:off x="1168400" y="2159000"/>
            <a:ext cx="14224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This is a contained event film with premium scale and durable thematic afterlife.</a:t>
            </a:r>
          </a:p>
          <a:p>
            <a:r>
              <a:rPr lang="en-US" sz="2400">
                <a:solidFill>
                  <a:srgbClr val="D7E3F5"/>
                </a:solidFill>
                <a:latin typeface="Segoe UI" panose="020B0502040204020203" pitchFamily="34" charset="0"/>
              </a:rPr>
              <a:t>• Final promise to audience: the terror does not end at survival; it begins at understanding.</a:t>
            </a:r>
            <a:endParaRPr lang="de-DE" sz="2400">
              <a:solidFill>
                <a:srgbClr val="D7E3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0419BDB-D9E1-4144-A85A-DD279361215D}"/>
              </a:ext>
            </a:extLst>
          </p:cNvPr>
          <p:cNvSpPr/>
          <p:nvPr/>
        </p:nvSpPr>
        <p:spPr>
          <a:xfrm>
            <a:off x="1143000" y="8128000"/>
            <a:ext cx="21336000" cy="2794000"/>
          </a:xfrm>
          <a:prstGeom prst="rect">
            <a:avLst/>
          </a:prstGeom>
          <a:solidFill>
            <a:srgbClr val="15263F">
              <a:alpha val="88000"/>
            </a:srgbClr>
          </a:solidFill>
          <a:ln w="25400">
            <a:solidFill>
              <a:srgbClr val="36D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4088E8D-3591-4F05-ACE5-6AB830CC6E1D}"/>
              </a:ext>
            </a:extLst>
          </p:cNvPr>
          <p:cNvSpPr txBox="1"/>
          <p:nvPr/>
        </p:nvSpPr>
        <p:spPr>
          <a:xfrm>
            <a:off x="1587500" y="8636000"/>
            <a:ext cx="20320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800">
                <a:solidFill>
                  <a:srgbClr val="36D6FF"/>
                </a:solidFill>
                <a:latin typeface="Segoe UI Semibold" panose="020B0702040204020203" pitchFamily="34" charset="0"/>
              </a:rPr>
              <a:t>STATUS: ITERATION AKTIV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C3534A-48A7-41A8-957E-822A063DBA15}"/>
              </a:ext>
            </a:extLst>
          </p:cNvPr>
          <p:cNvSpPr/>
          <p:nvPr/>
        </p:nvSpPr>
        <p:spPr>
          <a:xfrm>
            <a:off x="0" y="13309600"/>
            <a:ext cx="24384000" cy="25400"/>
          </a:xfrm>
          <a:prstGeom prst="rect">
            <a:avLst/>
          </a:prstGeom>
          <a:solidFill>
            <a:srgbClr val="4F71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B8F1F90-A5E1-451A-B673-4E6E8B58A967}"/>
              </a:ext>
            </a:extLst>
          </p:cNvPr>
          <p:cNvSpPr txBox="1"/>
          <p:nvPr/>
        </p:nvSpPr>
        <p:spPr>
          <a:xfrm>
            <a:off x="889000" y="13360400"/>
            <a:ext cx="167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FA0C7"/>
                </a:solidFill>
                <a:latin typeface="Segoe UI" panose="020B0502040204020203" pitchFamily="34" charset="0"/>
              </a:rPr>
              <a:t>CONFIDENTIAL DEVELOPMENT MATERIAL | AT THE MOUNTAINS OF MADNESS | PITCH DECK v7.1 FINAL</a:t>
            </a:r>
            <a:endParaRPr lang="de-DE" sz="1000">
              <a:solidFill>
                <a:srgbClr val="7FA0C7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8C88372-4E6E-450E-B87C-6C34C211E90B}"/>
              </a:ext>
            </a:extLst>
          </p:cNvPr>
          <p:cNvSpPr txBox="1"/>
          <p:nvPr/>
        </p:nvSpPr>
        <p:spPr>
          <a:xfrm>
            <a:off x="21717000" y="13360400"/>
            <a:ext cx="177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>
                <a:solidFill>
                  <a:srgbClr val="7FA0C7"/>
                </a:solidFill>
                <a:latin typeface="Segoe UI Semibold" panose="020B0702040204020203" pitchFamily="34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121306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1856</Words>
  <Application>Microsoft Office PowerPoint</Application>
  <PresentationFormat>Bildschirmpräsentation (16:10)</PresentationFormat>
  <Paragraphs>229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Segoe UI</vt:lpstr>
      <vt:lpstr>Segoe UI Semibold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Ralf Krümmel</dc:creator>
  <cp:lastModifiedBy>Ralf Krümmel</cp:lastModifiedBy>
  <cp:revision>1</cp:revision>
  <dcterms:created xsi:type="dcterms:W3CDTF">2026-02-21T07:30:56Z</dcterms:created>
  <dcterms:modified xsi:type="dcterms:W3CDTF">2026-02-21T07:30:56Z</dcterms:modified>
</cp:coreProperties>
</file>