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715000" type="screen16x10"/>
  <p:notesSz cx="6858000" cy="9144000"/>
  <p:defaultTextStyle>
    <a:defPPr>
      <a:defRPr lang="de-DE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9301CC-28B7-48C4-9B1E-9E491FA13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7105089-D526-4A5F-A80C-AF0D3D096E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EE9490-161A-41D5-9FC7-076BC3E9B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115F-2976-4C8D-9AC2-D937AADD2089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B9231D2-7014-4F04-B472-6C092B546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E8D6F0-574E-46E1-97AF-BE70674F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B81A-34CC-4BDF-84B2-D6725F9FF3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3940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6E4F44-8E56-43D8-94FC-CCBA80341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1A58AD-9D07-434C-B7B4-985FFC3EC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1E18F0-E111-467E-9D74-D20A468E8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115F-2976-4C8D-9AC2-D937AADD2089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064FDA-36C5-4B3F-AEC7-193391D70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D6C987-81D3-4671-B2C6-20EECC529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B81A-34CC-4BDF-84B2-D6725F9FF3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2239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7CF83A-0CF8-4F36-ABEE-A97512C17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EB750C2-7E48-4D56-A274-4C2125C70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B4C77D2-9C03-4E1D-BF74-8EFA8FBBD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115F-2976-4C8D-9AC2-D937AADD2089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F021B8-679C-4933-A52D-979968EEA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609DD6-A45B-4188-806B-75CF7F77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B81A-34CC-4BDF-84B2-D6725F9FF3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9488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B21914-D740-42F1-808D-39C9A96C6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C1B391-393A-4633-919D-44AA99D4EE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FCD2F8E-EF91-4627-97FF-FDE7F80F15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438C9B-E16A-463C-B0B1-686772CC5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115F-2976-4C8D-9AC2-D937AADD2089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44B9A45-3D72-428A-A10A-17487A1E7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8E930E1-DFEA-4507-AFE3-0A0CEFDC9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B81A-34CC-4BDF-84B2-D6725F9FF3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589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5B9162-E557-4C64-8C69-4F7E981E0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FCAD89-2522-4C49-8EF4-C77B99FB6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B201DF6-82FC-41C5-AB80-92EA2C0908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FF60082-882C-4FA8-821B-A301C841B9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AC0B5E9-B361-428F-BF4A-DDD9ECC561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F8C72D6-3025-493A-91CE-130EFE732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115F-2976-4C8D-9AC2-D937AADD2089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A4D7493-242E-4EBD-9DBE-22619CF1A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2B6FC58-CBB8-4ADA-A93D-0138CB224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B81A-34CC-4BDF-84B2-D6725F9FF3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5179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430A68-87A1-4344-B7EF-394ACEBE5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0AE5EBA-F763-4436-AD05-233F991F8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115F-2976-4C8D-9AC2-D937AADD2089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A124DCF-A257-433A-9A43-EBA2B008D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AE7CE9-6E90-4312-871F-5ECC4226D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B81A-34CC-4BDF-84B2-D6725F9FF3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48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CC5D154-1032-4E02-A82E-26CABE5BB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115F-2976-4C8D-9AC2-D937AADD2089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4DBA85A-FCB1-451C-AC75-E888999EF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A8B7A8C-6CA6-49F1-B92D-4E07D72FD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B81A-34CC-4BDF-84B2-D6725F9FF3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9695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F13EAF-503F-4D70-8044-499331958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F41BC9-63A7-4045-90C3-B78742DBB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56236C5-00B6-4825-AA60-364C5A566C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681D9FF-8C4A-4442-8C3C-60248619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115F-2976-4C8D-9AC2-D937AADD2089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09AD338-1368-448E-BEA0-4D04EF8D2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D0B082A-2F14-4D86-BAAF-EE74B4122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B81A-34CC-4BDF-84B2-D6725F9FF3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7822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6809D6-DC84-4C22-A2AA-285AB3410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70DAD04-FA62-4610-8054-DBA655877A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443072C-345B-4FD7-8B89-EFDE2998E8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166D2FA-64B4-4668-BAFA-76EB910F5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115F-2976-4C8D-9AC2-D937AADD2089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6BADF0A-9C69-4A2F-9FBC-7E6A72A0A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29282C1-E97E-4DE9-9C22-C0368A0A9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B81A-34CC-4BDF-84B2-D6725F9FF3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624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690775-376A-4E84-996D-AAC3077E1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52D22CA-B9B8-431F-AF7E-E8EDEFD55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E4D364-D596-417D-B999-E24CA37EB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115F-2976-4C8D-9AC2-D937AADD2089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6AB1AC-D30A-42FD-8268-01A976273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FB83B0-2380-4976-B93F-B40FA52A4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B81A-34CC-4BDF-84B2-D6725F9FF3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2847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23585F3-1770-4D74-B8D5-B6CA7E9F97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BA1BB2C-6004-4FA8-B4A7-A7EF08B60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0901D0-ECE4-449A-93C3-CCBE18201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115F-2976-4C8D-9AC2-D937AADD2089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BFF090-F1CC-478B-A1DE-B07269826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6FE54A-F7EB-4650-B420-C8F5DFD5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B81A-34CC-4BDF-84B2-D6725F9FF3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3519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629C8FA-B9EE-4191-ABE3-B8B06D535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88C28E9-C667-466A-B5B3-A836C4DC1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6FA88F-E910-49BB-8F95-0B66D5A53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3115F-2976-4C8D-9AC2-D937AADD2089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8B3A58-BFF4-480D-8169-B5A836CE53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B7ACF0-E75C-434E-B210-C22B48663F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1B81A-34CC-4BDF-84B2-D6725F9FF3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4458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B072019-C30E-4EA1-A96D-754A31818E45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CA3B49E-6BCC-42DF-A572-94EABE7DC148}"/>
              </a:ext>
            </a:extLst>
          </p:cNvPr>
          <p:cNvSpPr/>
          <p:nvPr/>
        </p:nvSpPr>
        <p:spPr>
          <a:xfrm>
            <a:off x="0" y="0"/>
            <a:ext cx="24384000" cy="1016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8A07B99-4B0B-477C-AE0B-776381F3C1EE}"/>
              </a:ext>
            </a:extLst>
          </p:cNvPr>
          <p:cNvSpPr txBox="1"/>
          <p:nvPr/>
        </p:nvSpPr>
        <p:spPr>
          <a:xfrm>
            <a:off x="889000" y="558800"/>
            <a:ext cx="21336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200">
                <a:solidFill>
                  <a:srgbClr val="F2F7FF"/>
                </a:solidFill>
                <a:latin typeface="Segoe UI Semibold" panose="020B0702040204020203" pitchFamily="34" charset="0"/>
              </a:rPr>
              <a:t>AT THE MOUNTAINS OF MADNESS</a:t>
            </a:r>
            <a:endParaRPr lang="de-DE" sz="4200">
              <a:solidFill>
                <a:srgbClr val="F2F7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783E0AE-F115-4F08-8E75-0CF511C71400}"/>
              </a:ext>
            </a:extLst>
          </p:cNvPr>
          <p:cNvSpPr txBox="1"/>
          <p:nvPr/>
        </p:nvSpPr>
        <p:spPr>
          <a:xfrm>
            <a:off x="914400" y="1828800"/>
            <a:ext cx="19050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>
                <a:solidFill>
                  <a:srgbClr val="7FA0C7"/>
                </a:solidFill>
                <a:latin typeface="Segoe UI" panose="020B0502040204020203" pitchFamily="34" charset="0"/>
              </a:rPr>
              <a:t>Final Director Visual Bible v1
Internal Production Reference PDF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8BE1AE9-B1CF-49A6-BF32-1287FDF715DF}"/>
              </a:ext>
            </a:extLst>
          </p:cNvPr>
          <p:cNvSpPr txBox="1"/>
          <p:nvPr/>
        </p:nvSpPr>
        <p:spPr>
          <a:xfrm>
            <a:off x="1143000" y="2921000"/>
            <a:ext cx="22098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Built from final v7 screenplay + department policies.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Purpose: protect tone, visual grammar, and production consistency from prep through post.</a:t>
            </a:r>
            <a:endParaRPr lang="de-DE" sz="2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7D391B6-6C0B-491C-A8F8-02BD36711E62}"/>
              </a:ext>
            </a:extLst>
          </p:cNvPr>
          <p:cNvSpPr txBox="1"/>
          <p:nvPr/>
        </p:nvSpPr>
        <p:spPr>
          <a:xfrm>
            <a:off x="889000" y="13309600"/>
            <a:ext cx="2159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FINAL DIRECTOR VISUAL BIBLE v1 | INTERNAL ONLY | AT THE MOUNTAINS OF MADNESS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13980D0-368D-467D-BF3E-0107376002FF}"/>
              </a:ext>
            </a:extLst>
          </p:cNvPr>
          <p:cNvSpPr txBox="1"/>
          <p:nvPr/>
        </p:nvSpPr>
        <p:spPr>
          <a:xfrm>
            <a:off x="22606000" y="13309600"/>
            <a:ext cx="889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100">
                <a:solidFill>
                  <a:srgbClr val="7FA0C7"/>
                </a:solidFill>
                <a:latin typeface="Segoe UI Semibold" panose="020B0702040204020203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99243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3A84A2F-3C3E-4861-B292-08901C4F9C6D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E4C0671-938D-47D2-87E6-A86B9EDAE159}"/>
              </a:ext>
            </a:extLst>
          </p:cNvPr>
          <p:cNvSpPr/>
          <p:nvPr/>
        </p:nvSpPr>
        <p:spPr>
          <a:xfrm>
            <a:off x="0" y="0"/>
            <a:ext cx="24384000" cy="1016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3028D65-9FB5-4A8E-92C9-1CAF9098384E}"/>
              </a:ext>
            </a:extLst>
          </p:cNvPr>
          <p:cNvSpPr txBox="1"/>
          <p:nvPr/>
        </p:nvSpPr>
        <p:spPr>
          <a:xfrm>
            <a:off x="889000" y="558800"/>
            <a:ext cx="21336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200">
                <a:solidFill>
                  <a:srgbClr val="F2F7FF"/>
                </a:solidFill>
                <a:latin typeface="Segoe UI Semibold" panose="020B0702040204020203" pitchFamily="34" charset="0"/>
              </a:rPr>
              <a:t>How To Use This Bible</a:t>
            </a:r>
            <a:endParaRPr lang="de-DE" sz="4200">
              <a:solidFill>
                <a:srgbClr val="F2F7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1DCCCDE-CA13-46E5-91AA-AD612967789D}"/>
              </a:ext>
            </a:extLst>
          </p:cNvPr>
          <p:cNvSpPr txBox="1"/>
          <p:nvPr/>
        </p:nvSpPr>
        <p:spPr>
          <a:xfrm>
            <a:off x="1143000" y="2032000"/>
            <a:ext cx="22098000" cy="15696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Director/DP: read Framework, Shot Blueprints, key environments, and Entity Rules first.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Production Design: prioritize Camp/Chamber/Shaft files + spatial/palette diagrams.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VFX: follow VFX Philosophy + Entity Rules + Chamber/Tunnel/Shaft assets.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Edit/Sound: use Signature Motifs + Shot Blueprints + Isolation Loop policy.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42BB1E2-BD16-4E50-B743-3F462B69E36C}"/>
              </a:ext>
            </a:extLst>
          </p:cNvPr>
          <p:cNvSpPr txBox="1"/>
          <p:nvPr/>
        </p:nvSpPr>
        <p:spPr>
          <a:xfrm>
            <a:off x="889000" y="13309600"/>
            <a:ext cx="2159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FINAL DIRECTOR VISUAL BIBLE v1 | INTERNAL ONLY | AT THE MOUNTAINS OF MADNESS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EADB409-2653-4677-B4EB-134BDF9D119A}"/>
              </a:ext>
            </a:extLst>
          </p:cNvPr>
          <p:cNvSpPr txBox="1"/>
          <p:nvPr/>
        </p:nvSpPr>
        <p:spPr>
          <a:xfrm>
            <a:off x="22606000" y="13309600"/>
            <a:ext cx="889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100">
                <a:solidFill>
                  <a:srgbClr val="7FA0C7"/>
                </a:solidFill>
                <a:latin typeface="Segoe UI Semibold" panose="020B0702040204020203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03525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F2B5E57-3406-47B7-9C0B-740A5899227C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416ECEC-FCC3-4E4F-8589-C0067B93763D}"/>
              </a:ext>
            </a:extLst>
          </p:cNvPr>
          <p:cNvSpPr/>
          <p:nvPr/>
        </p:nvSpPr>
        <p:spPr>
          <a:xfrm>
            <a:off x="0" y="0"/>
            <a:ext cx="24384000" cy="1016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625BA30-6B3C-4070-AAD6-616CC7E03AB5}"/>
              </a:ext>
            </a:extLst>
          </p:cNvPr>
          <p:cNvSpPr txBox="1"/>
          <p:nvPr/>
        </p:nvSpPr>
        <p:spPr>
          <a:xfrm>
            <a:off x="889000" y="558800"/>
            <a:ext cx="21336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200">
                <a:solidFill>
                  <a:srgbClr val="F2F7FF"/>
                </a:solidFill>
                <a:latin typeface="Segoe UI Semibold" panose="020B0702040204020203" pitchFamily="34" charset="0"/>
              </a:rPr>
              <a:t>Global Visual North Star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BD3A012-531E-4EDC-9530-0C46DA34AC75}"/>
              </a:ext>
            </a:extLst>
          </p:cNvPr>
          <p:cNvSpPr txBox="1"/>
          <p:nvPr/>
        </p:nvSpPr>
        <p:spPr>
          <a:xfrm>
            <a:off x="1143000" y="2032000"/>
            <a:ext cx="22098000" cy="267765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Build a controlled, premium cosmic-horror language where revelation is the primary threat vector.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Horror is epistemic first (what is learned), not attack-driven first (what lunges).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Visual precision always wins over "cool chaos" or arbitrary spectacle.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Opening and closing image grammar must mirror each other with a meaning shift.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Frame humans as small process variables inside large intentional systems.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Keep geometry readable even in fear-heavy scenes.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Use silence and low-frequency hum as system-state indicators.</a:t>
            </a:r>
            <a:endParaRPr lang="de-DE" sz="2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8556F8C-C553-4F8C-B6F2-C37AB13B3823}"/>
              </a:ext>
            </a:extLst>
          </p:cNvPr>
          <p:cNvSpPr txBox="1"/>
          <p:nvPr/>
        </p:nvSpPr>
        <p:spPr>
          <a:xfrm>
            <a:off x="889000" y="13309600"/>
            <a:ext cx="2159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FINAL DIRECTOR VISUAL BIBLE v1 | INTERNAL ONLY | AT THE MOUNTAINS OF MADNESS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E1C0B08-884B-459F-975F-BA898F18B12B}"/>
              </a:ext>
            </a:extLst>
          </p:cNvPr>
          <p:cNvSpPr txBox="1"/>
          <p:nvPr/>
        </p:nvSpPr>
        <p:spPr>
          <a:xfrm>
            <a:off x="22606000" y="13309600"/>
            <a:ext cx="889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100">
                <a:solidFill>
                  <a:srgbClr val="7FA0C7"/>
                </a:solidFill>
                <a:latin typeface="Segoe UI Semibold" panose="020B0702040204020203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09358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20C00CD-D89D-4097-95A7-6FDA6F5AC6A1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05C14F3-51CC-48E2-BD8B-6C0309C3EA35}"/>
              </a:ext>
            </a:extLst>
          </p:cNvPr>
          <p:cNvSpPr/>
          <p:nvPr/>
        </p:nvSpPr>
        <p:spPr>
          <a:xfrm>
            <a:off x="0" y="0"/>
            <a:ext cx="24384000" cy="1016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7D977EE-91FF-441D-B532-416D07D6FEE8}"/>
              </a:ext>
            </a:extLst>
          </p:cNvPr>
          <p:cNvSpPr txBox="1"/>
          <p:nvPr/>
        </p:nvSpPr>
        <p:spPr>
          <a:xfrm>
            <a:off x="889000" y="558800"/>
            <a:ext cx="21336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200">
                <a:solidFill>
                  <a:srgbClr val="F2F7FF"/>
                </a:solidFill>
                <a:latin typeface="Segoe UI Semibold" panose="020B0702040204020203" pitchFamily="34" charset="0"/>
              </a:rPr>
              <a:t>Global Key Frames &amp; Tone Controls</a:t>
            </a:r>
            <a:endParaRPr lang="de-DE" sz="4200">
              <a:solidFill>
                <a:srgbClr val="F2F7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633039F-3946-4FFA-B524-FAB7BE2A4171}"/>
              </a:ext>
            </a:extLst>
          </p:cNvPr>
          <p:cNvSpPr txBox="1"/>
          <p:nvPr/>
        </p:nvSpPr>
        <p:spPr>
          <a:xfrm>
            <a:off x="1143000" y="2032000"/>
            <a:ext cx="22098000" cy="34163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KF-01: White void aerial, tiny helicopter, distorted signal, no stable orientation.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KF-02: Corridor contact at Camp D1, wrong-normal order, measured proximity.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KF-03: Iteration chamber reveal, rows first, people second, meaning last.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KF-04: Isolationsraum mirror close, pupil shift, procedural dread.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KF-05: Closing aerial mirror with `STATUS: ITERATION AKTIV`.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Practical: Snow, wind, camp props, corridor texture, actor-light interaction, near-surface set detail.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VFX: Depth extension, subtle living-material micro-motion, archive relief activity, scale continuity.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Exterior: low-contrast cold whites with directional wind streak highlights.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Camp: practical motivated pools, darker corners that keep geometry intact.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364F3B0-21B1-4010-A88B-D7898D71B7C4}"/>
              </a:ext>
            </a:extLst>
          </p:cNvPr>
          <p:cNvSpPr txBox="1"/>
          <p:nvPr/>
        </p:nvSpPr>
        <p:spPr>
          <a:xfrm>
            <a:off x="889000" y="13309600"/>
            <a:ext cx="2159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FINAL DIRECTOR VISUAL BIBLE v1 | INTERNAL ONLY | AT THE MOUNTAINS OF MADNESS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D370AD0-6419-49E5-B4A0-97CBA21C5031}"/>
              </a:ext>
            </a:extLst>
          </p:cNvPr>
          <p:cNvSpPr txBox="1"/>
          <p:nvPr/>
        </p:nvSpPr>
        <p:spPr>
          <a:xfrm>
            <a:off x="22606000" y="13309600"/>
            <a:ext cx="889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100">
                <a:solidFill>
                  <a:srgbClr val="7FA0C7"/>
                </a:solidFill>
                <a:latin typeface="Segoe UI Semibold" panose="020B0702040204020203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849468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FEF478B-B900-4CCA-B485-EC5CA09F3D58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DE4E320-4A1D-4782-A03F-9CEF4C1D346C}"/>
              </a:ext>
            </a:extLst>
          </p:cNvPr>
          <p:cNvSpPr/>
          <p:nvPr/>
        </p:nvSpPr>
        <p:spPr>
          <a:xfrm>
            <a:off x="0" y="0"/>
            <a:ext cx="24384000" cy="1016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0E4223F-E6AA-4A9D-82AA-A9DF66518CE5}"/>
              </a:ext>
            </a:extLst>
          </p:cNvPr>
          <p:cNvSpPr txBox="1"/>
          <p:nvPr/>
        </p:nvSpPr>
        <p:spPr>
          <a:xfrm>
            <a:off x="889000" y="558800"/>
            <a:ext cx="21336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4200">
                <a:solidFill>
                  <a:srgbClr val="F2F7FF"/>
                </a:solidFill>
                <a:latin typeface="Segoe UI Semibold" panose="020B0702040204020203" pitchFamily="34" charset="0"/>
              </a:rPr>
              <a:t>Protagonist Visual: Dr. Elias Keller</a:t>
            </a:r>
            <a:endParaRPr lang="de-DE" sz="4200">
              <a:solidFill>
                <a:srgbClr val="F2F7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45B5666-3141-483B-B8DF-F4FCDAFC2FB9}"/>
              </a:ext>
            </a:extLst>
          </p:cNvPr>
          <p:cNvSpPr txBox="1"/>
          <p:nvPr/>
        </p:nvSpPr>
        <p:spPr>
          <a:xfrm>
            <a:off x="1143000" y="2032000"/>
            <a:ext cx="14224000" cy="34163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Present Keller as a control-driven scientist whose grief slowly breaks visual certainty.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Keller never plays as an action hero silhouette.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Inner conflict must be readable in micro-behavior before dialogue states it.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His final ambiguity (accepted vs replaced) must remain unresolved visually.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KF-01: Helicopter interior, photo of son, muted side light.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KF-02: Notebook insert ("verstehe" crossed into "beweise").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KF-03: Subtle blood trace after registration moment.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Act I: neutral cool key, clean facial planes.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Act II: harder side ratio, deeper orbit shadows under eye.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DCD8CDF-18B7-4155-9CB0-0D0EA7365D23}"/>
              </a:ext>
            </a:extLst>
          </p:cNvPr>
          <p:cNvSpPr/>
          <p:nvPr/>
        </p:nvSpPr>
        <p:spPr>
          <a:xfrm>
            <a:off x="15748000" y="2032000"/>
            <a:ext cx="7747000" cy="9652000"/>
          </a:xfrm>
          <a:prstGeom prst="rect">
            <a:avLst/>
          </a:prstGeom>
          <a:solidFill>
            <a:srgbClr val="15263F">
              <a:alpha val="88000"/>
            </a:srgbClr>
          </a:solidFill>
          <a:ln w="19050">
            <a:solidFill>
              <a:srgbClr val="4F71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B5853FB-030A-4B4C-9827-B1F450E65697}"/>
              </a:ext>
            </a:extLst>
          </p:cNvPr>
          <p:cNvSpPr txBox="1"/>
          <p:nvPr/>
        </p:nvSpPr>
        <p:spPr>
          <a:xfrm>
            <a:off x="889000" y="13309600"/>
            <a:ext cx="2159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FINAL DIRECTOR VISUAL BIBLE v1 | INTERNAL ONLY | AT THE MOUNTAINS OF MADNESS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4BABB41-DFC0-4E07-8367-74EA6042C067}"/>
              </a:ext>
            </a:extLst>
          </p:cNvPr>
          <p:cNvSpPr txBox="1"/>
          <p:nvPr/>
        </p:nvSpPr>
        <p:spPr>
          <a:xfrm>
            <a:off x="22606000" y="13309600"/>
            <a:ext cx="889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100">
                <a:solidFill>
                  <a:srgbClr val="7FA0C7"/>
                </a:solidFill>
                <a:latin typeface="Segoe UI Semibold" panose="020B0702040204020203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538387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66E3B696-9348-427F-A93A-8D21C7D0ED1F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2362AEF-BE45-4276-86FB-91DD20F6D8E6}"/>
              </a:ext>
            </a:extLst>
          </p:cNvPr>
          <p:cNvSpPr/>
          <p:nvPr/>
        </p:nvSpPr>
        <p:spPr>
          <a:xfrm>
            <a:off x="0" y="0"/>
            <a:ext cx="24384000" cy="1016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1798A97-623E-4462-A2AC-CF5ED0DD29D9}"/>
              </a:ext>
            </a:extLst>
          </p:cNvPr>
          <p:cNvSpPr txBox="1"/>
          <p:nvPr/>
        </p:nvSpPr>
        <p:spPr>
          <a:xfrm>
            <a:off x="889000" y="558800"/>
            <a:ext cx="21336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200">
                <a:solidFill>
                  <a:srgbClr val="F2F7FF"/>
                </a:solidFill>
                <a:latin typeface="Segoe UI Semibold" panose="020B0702040204020203" pitchFamily="34" charset="0"/>
              </a:rPr>
              <a:t>Protagonist Visual: Dr. Lena Hartmann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882A19F-B777-4CCB-9312-C09DA2A7FCB4}"/>
              </a:ext>
            </a:extLst>
          </p:cNvPr>
          <p:cNvSpPr txBox="1"/>
          <p:nvPr/>
        </p:nvSpPr>
        <p:spPr>
          <a:xfrm>
            <a:off x="1143000" y="2032000"/>
            <a:ext cx="14224000" cy="34163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Frame Hartmann as the film's ethical optics system, reading risk before others verbalize it.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Hartmann's authority is observational precision, not volume.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Her choices must feel active, not reactive.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She is the first reliable witness of Keller's instability markers.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KF-01: glance from son photo to Keller.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KF-02: covert glove bagging after blood trace.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KF-03: measured look during pupil anomaly.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Cooler fill values than Keller for objective contrast.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Side-lit profile in diagnostic scenes to emphasize analytical edge.</a:t>
            </a:r>
            <a:endParaRPr lang="de-DE" sz="2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DC45926-95FB-46F9-83F3-2CFACFD32EC3}"/>
              </a:ext>
            </a:extLst>
          </p:cNvPr>
          <p:cNvSpPr/>
          <p:nvPr/>
        </p:nvSpPr>
        <p:spPr>
          <a:xfrm>
            <a:off x="15748000" y="2032000"/>
            <a:ext cx="7747000" cy="9652000"/>
          </a:xfrm>
          <a:prstGeom prst="rect">
            <a:avLst/>
          </a:prstGeom>
          <a:solidFill>
            <a:srgbClr val="15263F">
              <a:alpha val="88000"/>
            </a:srgbClr>
          </a:solidFill>
          <a:ln w="19050">
            <a:solidFill>
              <a:srgbClr val="4F71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FBD0A35-D18B-412C-BCB2-5938FD72BD6B}"/>
              </a:ext>
            </a:extLst>
          </p:cNvPr>
          <p:cNvSpPr txBox="1"/>
          <p:nvPr/>
        </p:nvSpPr>
        <p:spPr>
          <a:xfrm>
            <a:off x="889000" y="13309600"/>
            <a:ext cx="2159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FINAL DIRECTOR VISUAL BIBLE v1 | INTERNAL ONLY | AT THE MOUNTAINS OF MADNESS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F143FE5-F453-44B7-9439-D437827BA122}"/>
              </a:ext>
            </a:extLst>
          </p:cNvPr>
          <p:cNvSpPr txBox="1"/>
          <p:nvPr/>
        </p:nvSpPr>
        <p:spPr>
          <a:xfrm>
            <a:off x="22606000" y="13309600"/>
            <a:ext cx="889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100">
                <a:solidFill>
                  <a:srgbClr val="7FA0C7"/>
                </a:solidFill>
                <a:latin typeface="Segoe UI Semibold" panose="020B0702040204020203" pitchFamily="34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73559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5A71300-377A-4322-B242-542E1BF063DE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1A5CC6E-0423-4011-95E7-7FC51405ACF6}"/>
              </a:ext>
            </a:extLst>
          </p:cNvPr>
          <p:cNvSpPr/>
          <p:nvPr/>
        </p:nvSpPr>
        <p:spPr>
          <a:xfrm>
            <a:off x="0" y="0"/>
            <a:ext cx="24384000" cy="1016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B56EBA1-6476-43AA-96FB-789085EAA323}"/>
              </a:ext>
            </a:extLst>
          </p:cNvPr>
          <p:cNvSpPr txBox="1"/>
          <p:nvPr/>
        </p:nvSpPr>
        <p:spPr>
          <a:xfrm>
            <a:off x="889000" y="558800"/>
            <a:ext cx="21336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200">
                <a:solidFill>
                  <a:srgbClr val="F2F7FF"/>
                </a:solidFill>
                <a:latin typeface="Segoe UI Semibold" panose="020B0702040204020203" pitchFamily="34" charset="0"/>
              </a:rPr>
              <a:t>Protagonist Visual: Ensemble Dynamics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34705FC-E38E-473B-9FA7-E732353A4132}"/>
              </a:ext>
            </a:extLst>
          </p:cNvPr>
          <p:cNvSpPr txBox="1"/>
          <p:nvPr/>
        </p:nvSpPr>
        <p:spPr>
          <a:xfrm>
            <a:off x="1143000" y="2032000"/>
            <a:ext cx="14224000" cy="37856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Make each ensemble member visually legible as a distinct survival logic under the same system pressure.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Ensemble blocking must communicate fracture over time.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Utility props are identity signals, not decoration.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Team shape changes after Alvarez loss must be immediately readable.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KF-01: full six-person configuration at Camp D1 entry.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KF-02: split attention around corridor contact.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KF-03: borehole edge debate under weather clock.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Shared practical key with subtle character-specific edge response.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More negative fill as hierarchy breaks down.</a:t>
            </a:r>
            <a:endParaRPr lang="de-DE" sz="2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DB07475-2ADE-4477-B9DA-AA8E518E260B}"/>
              </a:ext>
            </a:extLst>
          </p:cNvPr>
          <p:cNvSpPr/>
          <p:nvPr/>
        </p:nvSpPr>
        <p:spPr>
          <a:xfrm>
            <a:off x="15748000" y="2032000"/>
            <a:ext cx="7747000" cy="9652000"/>
          </a:xfrm>
          <a:prstGeom prst="rect">
            <a:avLst/>
          </a:prstGeom>
          <a:solidFill>
            <a:srgbClr val="15263F">
              <a:alpha val="88000"/>
            </a:srgbClr>
          </a:solidFill>
          <a:ln w="19050">
            <a:solidFill>
              <a:srgbClr val="4F71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3C4E0ED-160C-4BDF-BE0E-A72D37A71C29}"/>
              </a:ext>
            </a:extLst>
          </p:cNvPr>
          <p:cNvSpPr txBox="1"/>
          <p:nvPr/>
        </p:nvSpPr>
        <p:spPr>
          <a:xfrm>
            <a:off x="889000" y="13309600"/>
            <a:ext cx="2159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FINAL DIRECTOR VISUAL BIBLE v1 | INTERNAL ONLY | AT THE MOUNTAINS OF MADNESS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90132FD-2E5B-4851-8411-A4A2A1EF5C71}"/>
              </a:ext>
            </a:extLst>
          </p:cNvPr>
          <p:cNvSpPr txBox="1"/>
          <p:nvPr/>
        </p:nvSpPr>
        <p:spPr>
          <a:xfrm>
            <a:off x="22606000" y="13309600"/>
            <a:ext cx="889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100">
                <a:solidFill>
                  <a:srgbClr val="7FA0C7"/>
                </a:solidFill>
                <a:latin typeface="Segoe UI Semibold" panose="020B0702040204020203" pitchFamily="34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7733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96F13FC-AC5D-4D91-9E19-D32472859F6C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1819700-2144-434F-8123-11EAD15BAF5A}"/>
              </a:ext>
            </a:extLst>
          </p:cNvPr>
          <p:cNvSpPr/>
          <p:nvPr/>
        </p:nvSpPr>
        <p:spPr>
          <a:xfrm>
            <a:off x="0" y="0"/>
            <a:ext cx="24384000" cy="1016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E0387E0-6DCD-4E07-B83A-AA482BBF1080}"/>
              </a:ext>
            </a:extLst>
          </p:cNvPr>
          <p:cNvSpPr txBox="1"/>
          <p:nvPr/>
        </p:nvSpPr>
        <p:spPr>
          <a:xfrm>
            <a:off x="889000" y="558800"/>
            <a:ext cx="21336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200">
                <a:solidFill>
                  <a:srgbClr val="F2F7FF"/>
                </a:solidFill>
                <a:latin typeface="Segoe UI Semibold" panose="020B0702040204020203" pitchFamily="34" charset="0"/>
              </a:rPr>
              <a:t>Environment: Antarctic Surface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A2491A1-ADBC-4B1F-9CEE-CEBB7B11F800}"/>
              </a:ext>
            </a:extLst>
          </p:cNvPr>
          <p:cNvSpPr txBox="1"/>
          <p:nvPr/>
        </p:nvSpPr>
        <p:spPr>
          <a:xfrm>
            <a:off x="1143000" y="2032000"/>
            <a:ext cx="14224000" cy="415498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Use the surface world as scale-negation space where humans read as fragile temporary entries.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Surface frames must communicate orientation loss before threat.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Helicopter scale must stay modest, never heroic.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Opening/closing aerial language must match structurally.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KF-01: opening aerial void with tiny black helicopter.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KF-02: Camp D1 landing in blown snow haze.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KF-03: borehole perimeter in low-contrast morning grey.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Overcast diffuse key, low shadow separation.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Avoid rich blue skies; preserve muted polar tonality.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Act I opening: horizon intentionally unstable or absent.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Mid exterior operational beats: limited horizon return for tactical orientation.</a:t>
            </a:r>
            <a:endParaRPr lang="de-DE" sz="2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E0A3EAA-56F8-4000-A63B-BE207D131F26}"/>
              </a:ext>
            </a:extLst>
          </p:cNvPr>
          <p:cNvSpPr/>
          <p:nvPr/>
        </p:nvSpPr>
        <p:spPr>
          <a:xfrm>
            <a:off x="15748000" y="2032000"/>
            <a:ext cx="7747000" cy="9652000"/>
          </a:xfrm>
          <a:prstGeom prst="rect">
            <a:avLst/>
          </a:prstGeom>
          <a:solidFill>
            <a:srgbClr val="15263F">
              <a:alpha val="88000"/>
            </a:srgbClr>
          </a:solidFill>
          <a:ln w="22860">
            <a:solidFill>
              <a:srgbClr val="36D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40F53B6-8A51-4DF7-B6DA-65AD39ED98AC}"/>
              </a:ext>
            </a:extLst>
          </p:cNvPr>
          <p:cNvSpPr txBox="1"/>
          <p:nvPr/>
        </p:nvSpPr>
        <p:spPr>
          <a:xfrm>
            <a:off x="889000" y="13309600"/>
            <a:ext cx="2159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FINAL DIRECTOR VISUAL BIBLE v1 | INTERNAL ONLY | AT THE MOUNTAINS OF MADNESS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A74662F-338A-47C3-800D-372EDD0C2264}"/>
              </a:ext>
            </a:extLst>
          </p:cNvPr>
          <p:cNvSpPr txBox="1"/>
          <p:nvPr/>
        </p:nvSpPr>
        <p:spPr>
          <a:xfrm>
            <a:off x="22606000" y="13309600"/>
            <a:ext cx="889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100">
                <a:solidFill>
                  <a:srgbClr val="7FA0C7"/>
                </a:solidFill>
                <a:latin typeface="Segoe UI Semibold" panose="020B0702040204020203" pitchFamily="34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534188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66C011D0-0C46-41DF-B34E-826025A15EBB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8669675-CC8D-4AAD-9A5C-C9224C7DC620}"/>
              </a:ext>
            </a:extLst>
          </p:cNvPr>
          <p:cNvSpPr/>
          <p:nvPr/>
        </p:nvSpPr>
        <p:spPr>
          <a:xfrm>
            <a:off x="0" y="0"/>
            <a:ext cx="24384000" cy="1016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8B3D304-2224-4C2E-9A3D-4D849FF4A61E}"/>
              </a:ext>
            </a:extLst>
          </p:cNvPr>
          <p:cNvSpPr txBox="1"/>
          <p:nvPr/>
        </p:nvSpPr>
        <p:spPr>
          <a:xfrm>
            <a:off x="889000" y="558800"/>
            <a:ext cx="21336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200">
                <a:solidFill>
                  <a:srgbClr val="F2F7FF"/>
                </a:solidFill>
                <a:latin typeface="Segoe UI Semibold" panose="020B0702040204020203" pitchFamily="34" charset="0"/>
              </a:rPr>
              <a:t>Environment: Camp D1 (Wrong Normal)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D7AC4D1-D15C-4786-822D-0D2F8ACF3A62}"/>
              </a:ext>
            </a:extLst>
          </p:cNvPr>
          <p:cNvSpPr txBox="1"/>
          <p:nvPr/>
        </p:nvSpPr>
        <p:spPr>
          <a:xfrm>
            <a:off x="1143000" y="2032000"/>
            <a:ext cx="14224000" cy="415498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Present Camp D1 as "wrong normal" architecture where procedural order replaces human panic.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Camp should feel active-adjacent, not abandoned-ruin.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Every room must imply previous methodical action.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Corridor contact scene must read as measurement, not attack.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KF-01: first entry into ordered but empty main module.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KF-02: wall protocol drawings under controlled flashlight sweep.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KF-03: black wall substance pulse and retreat.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Day interiors: practical cool utility lighting with dead zones.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Night interiors: red-emergency accents plus narrow flashlight keys.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Cleanly stacked gloves and tools left in usable order.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Precisely labeled sample containers and marked workstation lines.</a:t>
            </a:r>
            <a:endParaRPr lang="de-DE" sz="2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883C059-953F-46A7-AE58-90832D21E3F0}"/>
              </a:ext>
            </a:extLst>
          </p:cNvPr>
          <p:cNvSpPr/>
          <p:nvPr/>
        </p:nvSpPr>
        <p:spPr>
          <a:xfrm>
            <a:off x="15748000" y="2032000"/>
            <a:ext cx="7747000" cy="9652000"/>
          </a:xfrm>
          <a:prstGeom prst="rect">
            <a:avLst/>
          </a:prstGeom>
          <a:solidFill>
            <a:srgbClr val="15263F">
              <a:alpha val="88000"/>
            </a:srgbClr>
          </a:solidFill>
          <a:ln w="22860">
            <a:solidFill>
              <a:srgbClr val="36D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643DF6B-889B-4508-887D-EC5FEC6E6075}"/>
              </a:ext>
            </a:extLst>
          </p:cNvPr>
          <p:cNvSpPr txBox="1"/>
          <p:nvPr/>
        </p:nvSpPr>
        <p:spPr>
          <a:xfrm>
            <a:off x="889000" y="13309600"/>
            <a:ext cx="2159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FINAL DIRECTOR VISUAL BIBLE v1 | INTERNAL ONLY | AT THE MOUNTAINS OF MADNESS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D08B7EE-CEB3-48D7-8C5D-337A5040AE92}"/>
              </a:ext>
            </a:extLst>
          </p:cNvPr>
          <p:cNvSpPr txBox="1"/>
          <p:nvPr/>
        </p:nvSpPr>
        <p:spPr>
          <a:xfrm>
            <a:off x="22606000" y="13309600"/>
            <a:ext cx="889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100">
                <a:solidFill>
                  <a:srgbClr val="7FA0C7"/>
                </a:solidFill>
                <a:latin typeface="Segoe UI Semibold" panose="020B0702040204020203" pitchFamily="34" charset="0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55447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90166EB-8A2D-4C91-828F-7AEBAEA02EC3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556031D-5DBB-4E5F-B6DD-0F20EA0F3C1B}"/>
              </a:ext>
            </a:extLst>
          </p:cNvPr>
          <p:cNvSpPr/>
          <p:nvPr/>
        </p:nvSpPr>
        <p:spPr>
          <a:xfrm>
            <a:off x="0" y="0"/>
            <a:ext cx="24384000" cy="1016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DAD64-4B55-4C75-87A0-864A7892756B}"/>
              </a:ext>
            </a:extLst>
          </p:cNvPr>
          <p:cNvSpPr txBox="1"/>
          <p:nvPr/>
        </p:nvSpPr>
        <p:spPr>
          <a:xfrm>
            <a:off x="889000" y="558800"/>
            <a:ext cx="21336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200">
                <a:solidFill>
                  <a:srgbClr val="F2F7FF"/>
                </a:solidFill>
                <a:latin typeface="Segoe UI Semibold" panose="020B0702040204020203" pitchFamily="34" charset="0"/>
              </a:rPr>
              <a:t>Environment: Borehole + Vertical Shaft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0C87CF9-C1F0-49C5-AB36-53E5575AABFE}"/>
              </a:ext>
            </a:extLst>
          </p:cNvPr>
          <p:cNvSpPr txBox="1"/>
          <p:nvPr/>
        </p:nvSpPr>
        <p:spPr>
          <a:xfrm>
            <a:off x="1143000" y="2032000"/>
            <a:ext cx="14224000" cy="34163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Make the descent space the physical lock of the narrative where return becomes impossible.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Verticality must be felt before the collapse happens.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Point-of-no-return moment must be geographically unambiguous.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Depth should read as engineered void, not cave randomness.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KF-01: borehole edge in morning grey with team ring.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KF-02: cable depth feed with no floor return.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KF-03: top-down shaft void with diminishing light.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Surface: overcast diffused light with low-contrast skin rendering.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Shaft: fast falloff to darkness with practical lamps as depth markers.</a:t>
            </a:r>
            <a:endParaRPr lang="de-DE" sz="2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6C5D530-EF72-4F8D-87A1-FB8F7FD36010}"/>
              </a:ext>
            </a:extLst>
          </p:cNvPr>
          <p:cNvSpPr/>
          <p:nvPr/>
        </p:nvSpPr>
        <p:spPr>
          <a:xfrm>
            <a:off x="15748000" y="2032000"/>
            <a:ext cx="7747000" cy="9652000"/>
          </a:xfrm>
          <a:prstGeom prst="rect">
            <a:avLst/>
          </a:prstGeom>
          <a:solidFill>
            <a:srgbClr val="15263F">
              <a:alpha val="88000"/>
            </a:srgbClr>
          </a:solidFill>
          <a:ln w="22860">
            <a:solidFill>
              <a:srgbClr val="36D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82CBC80-387E-48A6-85CC-47BEB5E4E2D4}"/>
              </a:ext>
            </a:extLst>
          </p:cNvPr>
          <p:cNvSpPr txBox="1"/>
          <p:nvPr/>
        </p:nvSpPr>
        <p:spPr>
          <a:xfrm>
            <a:off x="889000" y="13309600"/>
            <a:ext cx="2159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FINAL DIRECTOR VISUAL BIBLE v1 | INTERNAL ONLY | AT THE MOUNTAINS OF MADNESS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2A5FECF-D90C-4D9C-8210-675889AA8231}"/>
              </a:ext>
            </a:extLst>
          </p:cNvPr>
          <p:cNvSpPr txBox="1"/>
          <p:nvPr/>
        </p:nvSpPr>
        <p:spPr>
          <a:xfrm>
            <a:off x="22606000" y="13309600"/>
            <a:ext cx="889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100">
                <a:solidFill>
                  <a:srgbClr val="7FA0C7"/>
                </a:solidFill>
                <a:latin typeface="Segoe UI Semibold" panose="020B0702040204020203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07305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BA11B264-54DE-473C-8E6F-7A7452B25CEF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167CDF9-3663-4BB8-B826-D7C6EC695482}"/>
              </a:ext>
            </a:extLst>
          </p:cNvPr>
          <p:cNvSpPr/>
          <p:nvPr/>
        </p:nvSpPr>
        <p:spPr>
          <a:xfrm>
            <a:off x="0" y="0"/>
            <a:ext cx="24384000" cy="1016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B8F29D3-995B-40FA-8F56-1BE55EE09BF9}"/>
              </a:ext>
            </a:extLst>
          </p:cNvPr>
          <p:cNvSpPr txBox="1"/>
          <p:nvPr/>
        </p:nvSpPr>
        <p:spPr>
          <a:xfrm>
            <a:off x="889000" y="558800"/>
            <a:ext cx="21336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200">
                <a:solidFill>
                  <a:srgbClr val="F2F7FF"/>
                </a:solidFill>
                <a:latin typeface="Segoe UI Semibold" panose="020B0702040204020203" pitchFamily="34" charset="0"/>
              </a:rPr>
              <a:t>Environment: Alien Structure Tunnels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3D0FA52-7523-42C1-97B7-69D62407DB3F}"/>
              </a:ext>
            </a:extLst>
          </p:cNvPr>
          <p:cNvSpPr txBox="1"/>
          <p:nvPr/>
        </p:nvSpPr>
        <p:spPr>
          <a:xfrm>
            <a:off x="1143000" y="2032000"/>
            <a:ext cx="14224000" cy="34163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Stage the tunnels as active engineered anatomy where space itself performs analysis.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Tunnel geometry must read intentional and repeatable.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Material behavior remains subtle, never fantasy-biological spectacle.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Forward movement should feel like entering a protocol, not exploring ruins.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KF-01: first tunnel reveal from shaft floor.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KF-02: moving beam across fibrous black surface.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KF-03: low-frequency wall response near system event.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Keep practical beam cones narrow and motivated.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Preserve heavy negative space without losing orientation.</a:t>
            </a:r>
            <a:endParaRPr lang="de-DE" sz="2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9E93892-ECDA-4E94-A6A5-769C9B23ED8D}"/>
              </a:ext>
            </a:extLst>
          </p:cNvPr>
          <p:cNvSpPr/>
          <p:nvPr/>
        </p:nvSpPr>
        <p:spPr>
          <a:xfrm>
            <a:off x="15748000" y="2032000"/>
            <a:ext cx="7747000" cy="9652000"/>
          </a:xfrm>
          <a:prstGeom prst="rect">
            <a:avLst/>
          </a:prstGeom>
          <a:solidFill>
            <a:srgbClr val="15263F">
              <a:alpha val="88000"/>
            </a:srgbClr>
          </a:solidFill>
          <a:ln w="22860">
            <a:solidFill>
              <a:srgbClr val="36D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FABF3C7-B679-40EF-9225-522842FC1ABA}"/>
              </a:ext>
            </a:extLst>
          </p:cNvPr>
          <p:cNvSpPr txBox="1"/>
          <p:nvPr/>
        </p:nvSpPr>
        <p:spPr>
          <a:xfrm>
            <a:off x="889000" y="13309600"/>
            <a:ext cx="2159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FINAL DIRECTOR VISUAL BIBLE v1 | INTERNAL ONLY | AT THE MOUNTAINS OF MADNESS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7823705-3D19-4EC5-B37C-0EF1ABF304AD}"/>
              </a:ext>
            </a:extLst>
          </p:cNvPr>
          <p:cNvSpPr txBox="1"/>
          <p:nvPr/>
        </p:nvSpPr>
        <p:spPr>
          <a:xfrm>
            <a:off x="22606000" y="13309600"/>
            <a:ext cx="889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100">
                <a:solidFill>
                  <a:srgbClr val="7FA0C7"/>
                </a:solidFill>
                <a:latin typeface="Segoe UI Semibold" panose="020B0702040204020203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7373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A78E64E-CB56-4D0C-8650-44B62E8AC390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E485064-B43C-4B6C-9663-FBED59A694F4}"/>
              </a:ext>
            </a:extLst>
          </p:cNvPr>
          <p:cNvSpPr/>
          <p:nvPr/>
        </p:nvSpPr>
        <p:spPr>
          <a:xfrm>
            <a:off x="0" y="0"/>
            <a:ext cx="24384000" cy="1016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83B68C0-510A-4B32-8175-8957C680D852}"/>
              </a:ext>
            </a:extLst>
          </p:cNvPr>
          <p:cNvSpPr txBox="1"/>
          <p:nvPr/>
        </p:nvSpPr>
        <p:spPr>
          <a:xfrm>
            <a:off x="889000" y="558800"/>
            <a:ext cx="21336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200">
                <a:solidFill>
                  <a:srgbClr val="F2F7FF"/>
                </a:solidFill>
                <a:latin typeface="Segoe UI Semibold" panose="020B0702040204020203" pitchFamily="34" charset="0"/>
              </a:rPr>
              <a:t>Environment: Iteration Chamber + Archive Wall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D9F9899-EC39-456E-B449-54F3F7672B09}"/>
              </a:ext>
            </a:extLst>
          </p:cNvPr>
          <p:cNvSpPr txBox="1"/>
          <p:nvPr/>
        </p:nvSpPr>
        <p:spPr>
          <a:xfrm>
            <a:off x="1143000" y="2032000"/>
            <a:ext cx="14224000" cy="415498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Deliver the film's central ontological shock through controlled visual escalation, not spectacle overload.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Chamber reveal must be staged in steps, never as one total dump.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Bodies read as archived series, not gore tableau.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Archive wall contact is the perception rupture pivot.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KF-01: rows in darkness before identity recognition.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KF-02: first clear human silhouette in preserved state.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KF-03: near-human variation contrast frame.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Low ambient baseline with hard practical beam sculpting.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Keep eye adaptation effect through dark-to-detail reveal progression.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Step 1: Reihen-Geometrie (pattern before meaning).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Step 2: Menschliche Form (recognition without context).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A749E40-389B-41D4-8937-743D5A3FDD6A}"/>
              </a:ext>
            </a:extLst>
          </p:cNvPr>
          <p:cNvSpPr/>
          <p:nvPr/>
        </p:nvSpPr>
        <p:spPr>
          <a:xfrm>
            <a:off x="15748000" y="2032000"/>
            <a:ext cx="7747000" cy="9652000"/>
          </a:xfrm>
          <a:prstGeom prst="rect">
            <a:avLst/>
          </a:prstGeom>
          <a:solidFill>
            <a:srgbClr val="15263F">
              <a:alpha val="88000"/>
            </a:srgbClr>
          </a:solidFill>
          <a:ln w="22860">
            <a:solidFill>
              <a:srgbClr val="36D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82C329F-CC0D-4078-9D96-6EC4995BBFB4}"/>
              </a:ext>
            </a:extLst>
          </p:cNvPr>
          <p:cNvSpPr txBox="1"/>
          <p:nvPr/>
        </p:nvSpPr>
        <p:spPr>
          <a:xfrm>
            <a:off x="889000" y="13309600"/>
            <a:ext cx="2159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FINAL DIRECTOR VISUAL BIBLE v1 | INTERNAL ONLY | AT THE MOUNTAINS OF MADNESS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025A596-F33C-472E-AF6B-B1C548F0A77A}"/>
              </a:ext>
            </a:extLst>
          </p:cNvPr>
          <p:cNvSpPr txBox="1"/>
          <p:nvPr/>
        </p:nvSpPr>
        <p:spPr>
          <a:xfrm>
            <a:off x="22606000" y="13309600"/>
            <a:ext cx="889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100">
                <a:solidFill>
                  <a:srgbClr val="7FA0C7"/>
                </a:solidFill>
                <a:latin typeface="Segoe UI Semibold" panose="020B0702040204020203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890554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83D5247-B897-4378-9BCB-8CF650356A77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8E31A98-18F1-466A-9A9A-AD48E23E2422}"/>
              </a:ext>
            </a:extLst>
          </p:cNvPr>
          <p:cNvSpPr/>
          <p:nvPr/>
        </p:nvSpPr>
        <p:spPr>
          <a:xfrm>
            <a:off x="0" y="0"/>
            <a:ext cx="24384000" cy="1016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C524E2E-91ED-4FC7-A165-3AB0CAE9BC90}"/>
              </a:ext>
            </a:extLst>
          </p:cNvPr>
          <p:cNvSpPr txBox="1"/>
          <p:nvPr/>
        </p:nvSpPr>
        <p:spPr>
          <a:xfrm>
            <a:off x="889000" y="558800"/>
            <a:ext cx="21336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200">
                <a:solidFill>
                  <a:srgbClr val="F2F7FF"/>
                </a:solidFill>
                <a:latin typeface="Segoe UI Semibold" panose="020B0702040204020203" pitchFamily="34" charset="0"/>
              </a:rPr>
              <a:t>Environment: Isolation + Final Loop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C0889B0-D074-4C28-B5C0-1D55093A33BB}"/>
              </a:ext>
            </a:extLst>
          </p:cNvPr>
          <p:cNvSpPr txBox="1"/>
          <p:nvPr/>
        </p:nvSpPr>
        <p:spPr>
          <a:xfrm>
            <a:off x="1143000" y="2032000"/>
            <a:ext cx="14224000" cy="452431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End with procedural chill where institutional control and cosmic recurrence collapse into one visual statement.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Isolation spaces must feel administratively clean, not dramatic.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Final loop must directly echo opening image architecture.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End cards must read as machine-state communication, not trailer tags.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KF-01: Hartmann signing institutional statement.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KF-02: Keller isolated in white room with recorder.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KF-03: mirror approach and pupil event.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Corridor: broad flat white with minimal shadow personality.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Room: similarly flat, with slight eye catchlight control for mirror beat.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Acoustic bed in isolation scenes should be near-dead.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Primary audible elements: breath, cloth movement, recorder mechanics.</a:t>
            </a:r>
            <a:endParaRPr lang="de-DE" sz="2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2E432C5-B04A-4620-A4FD-1B9DF10E82B8}"/>
              </a:ext>
            </a:extLst>
          </p:cNvPr>
          <p:cNvSpPr/>
          <p:nvPr/>
        </p:nvSpPr>
        <p:spPr>
          <a:xfrm>
            <a:off x="15748000" y="2032000"/>
            <a:ext cx="7747000" cy="9652000"/>
          </a:xfrm>
          <a:prstGeom prst="rect">
            <a:avLst/>
          </a:prstGeom>
          <a:solidFill>
            <a:srgbClr val="15263F">
              <a:alpha val="88000"/>
            </a:srgbClr>
          </a:solidFill>
          <a:ln w="22860">
            <a:solidFill>
              <a:srgbClr val="36D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413A918-420C-446F-A80B-9B0E8B04E239}"/>
              </a:ext>
            </a:extLst>
          </p:cNvPr>
          <p:cNvSpPr txBox="1"/>
          <p:nvPr/>
        </p:nvSpPr>
        <p:spPr>
          <a:xfrm>
            <a:off x="889000" y="13309600"/>
            <a:ext cx="2159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FINAL DIRECTOR VISUAL BIBLE v1 | INTERNAL ONLY | AT THE MOUNTAINS OF MADNESS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275DA77-91CA-4B0D-8222-C7185B297E9C}"/>
              </a:ext>
            </a:extLst>
          </p:cNvPr>
          <p:cNvSpPr txBox="1"/>
          <p:nvPr/>
        </p:nvSpPr>
        <p:spPr>
          <a:xfrm>
            <a:off x="22606000" y="13309600"/>
            <a:ext cx="889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100">
                <a:solidFill>
                  <a:srgbClr val="7FA0C7"/>
                </a:solidFill>
                <a:latin typeface="Segoe UI Semibold" panose="020B0702040204020203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365720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01FA3B2-20A0-4A9C-97A4-DDC2C530E208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E2A9324-2F55-471C-AD32-3106C81B07C5}"/>
              </a:ext>
            </a:extLst>
          </p:cNvPr>
          <p:cNvSpPr/>
          <p:nvPr/>
        </p:nvSpPr>
        <p:spPr>
          <a:xfrm>
            <a:off x="0" y="0"/>
            <a:ext cx="24384000" cy="1016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3F5848E-F393-4E81-949D-B4529759B975}"/>
              </a:ext>
            </a:extLst>
          </p:cNvPr>
          <p:cNvSpPr txBox="1"/>
          <p:nvPr/>
        </p:nvSpPr>
        <p:spPr>
          <a:xfrm>
            <a:off x="889000" y="558800"/>
            <a:ext cx="21336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200">
                <a:solidFill>
                  <a:srgbClr val="F2F7FF"/>
                </a:solidFill>
                <a:latin typeface="Segoe UI Semibold" panose="020B0702040204020203" pitchFamily="34" charset="0"/>
              </a:rPr>
              <a:t>Shot Blueprint: Opening Aerial / Distorted Signal</a:t>
            </a:r>
            <a:endParaRPr lang="de-DE" sz="4200">
              <a:solidFill>
                <a:srgbClr val="F2F7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6FB3B9B-E77C-4709-879E-642EC4F73760}"/>
              </a:ext>
            </a:extLst>
          </p:cNvPr>
          <p:cNvSpPr txBox="1"/>
          <p:nvPr/>
        </p:nvSpPr>
        <p:spPr>
          <a:xfrm>
            <a:off x="1143000" y="2032000"/>
            <a:ext cx="22098000" cy="37856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SHOT 01: EXT WIDE aerial / static hold / white void scale cue.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SHOT 02: EXT WIDE aerial / slow drift / helicopter enters frame as black point.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SHOT 03: EXT MED long lens / rotor against wind streak / fragility cue.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SHOT 04: INT cockpit insert / analog signal unit / static begins.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SHOT 05: INT close on Keller profile / no dialogue / listening state.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SHOT 06: INT radio speaker macro / distortion texture increases.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SHOT 07: EXT aerial oblique / horizon instability / orientation loss.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SHOT 08: INT instrument insert / distorted voice fragment "...Camp D1...".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SHOT 09: INT reaction split / team silent lock / deep hum enters under noise.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SHOT 10: EXT transition wide / helicopter continues forward / cut to Camp D1 approach.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1E22CC4-4A75-4B66-B9D3-A2FC1B1CC580}"/>
              </a:ext>
            </a:extLst>
          </p:cNvPr>
          <p:cNvSpPr txBox="1"/>
          <p:nvPr/>
        </p:nvSpPr>
        <p:spPr>
          <a:xfrm>
            <a:off x="889000" y="13309600"/>
            <a:ext cx="2159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FINAL DIRECTOR VISUAL BIBLE v1 | INTERNAL ONLY | AT THE MOUNTAINS OF MADNESS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BF44E0F-C453-4879-8832-D752C7FEB06B}"/>
              </a:ext>
            </a:extLst>
          </p:cNvPr>
          <p:cNvSpPr txBox="1"/>
          <p:nvPr/>
        </p:nvSpPr>
        <p:spPr>
          <a:xfrm>
            <a:off x="22606000" y="13309600"/>
            <a:ext cx="889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100">
                <a:solidFill>
                  <a:srgbClr val="7FA0C7"/>
                </a:solidFill>
                <a:latin typeface="Segoe UI Semibold" panose="020B0702040204020203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609329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C4169EFF-3514-43C3-8F82-78672F5F5339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A155DBA-023B-44A8-B04A-46FDE6A48074}"/>
              </a:ext>
            </a:extLst>
          </p:cNvPr>
          <p:cNvSpPr/>
          <p:nvPr/>
        </p:nvSpPr>
        <p:spPr>
          <a:xfrm>
            <a:off x="0" y="0"/>
            <a:ext cx="24384000" cy="1016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AA2B641-8F4B-40FD-9AA4-AF7CD09293B5}"/>
              </a:ext>
            </a:extLst>
          </p:cNvPr>
          <p:cNvSpPr txBox="1"/>
          <p:nvPr/>
        </p:nvSpPr>
        <p:spPr>
          <a:xfrm>
            <a:off x="889000" y="558800"/>
            <a:ext cx="21336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200">
                <a:solidFill>
                  <a:srgbClr val="F2F7FF"/>
                </a:solidFill>
                <a:latin typeface="Segoe UI Semibold" panose="020B0702040204020203" pitchFamily="34" charset="0"/>
              </a:rPr>
              <a:t>Shot Blueprint: Vertical Shaft Collapse</a:t>
            </a:r>
            <a:endParaRPr lang="de-DE" sz="4200">
              <a:solidFill>
                <a:srgbClr val="F2F7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EBF1E4B-C947-4EFE-A9CC-3278D234066A}"/>
              </a:ext>
            </a:extLst>
          </p:cNvPr>
          <p:cNvSpPr txBox="1"/>
          <p:nvPr/>
        </p:nvSpPr>
        <p:spPr>
          <a:xfrm>
            <a:off x="1143000" y="2032000"/>
            <a:ext cx="22098000" cy="37856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SHOT 01: EXT top-down wide / full team at borehole edge / rope and marker visibility.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SHOT 02: INSERT cable monitor / depth feed unstable / no floor return.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SHOT 03: POV down shaft / beam swallowed by darkness.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SHOT 04: MED on descent team / rope tension increases.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SHOT 05: INSERT anchor hardware / micro-vibration and ice crack.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SHOT 06: CLOSE Baranov/Sato / recognition beat before failure.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SHOT 07: EXT edge profile / structural shear and ice plate break.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SHOT 08: WIDE collapse read / entry geometry changes clearly.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SHOT 09: CLOSE on blocked rim / debris lock / "return path gone" clarity.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SHOT 10: MED Keller command beat / forward-only decision.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D3C9A56-F5C3-4C77-A74B-7C6B41155B06}"/>
              </a:ext>
            </a:extLst>
          </p:cNvPr>
          <p:cNvSpPr txBox="1"/>
          <p:nvPr/>
        </p:nvSpPr>
        <p:spPr>
          <a:xfrm>
            <a:off x="889000" y="13309600"/>
            <a:ext cx="2159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FINAL DIRECTOR VISUAL BIBLE v1 | INTERNAL ONLY | AT THE MOUNTAINS OF MADNESS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49A8604-6A57-438B-A11C-E4045A92220E}"/>
              </a:ext>
            </a:extLst>
          </p:cNvPr>
          <p:cNvSpPr txBox="1"/>
          <p:nvPr/>
        </p:nvSpPr>
        <p:spPr>
          <a:xfrm>
            <a:off x="22606000" y="13309600"/>
            <a:ext cx="889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100">
                <a:solidFill>
                  <a:srgbClr val="7FA0C7"/>
                </a:solidFill>
                <a:latin typeface="Segoe UI Semibold" panose="020B0702040204020203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862903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4974B5DF-8652-459A-A44F-5FF4117234EE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214D8FC-5F22-4804-BE1B-567D4442BD6A}"/>
              </a:ext>
            </a:extLst>
          </p:cNvPr>
          <p:cNvSpPr/>
          <p:nvPr/>
        </p:nvSpPr>
        <p:spPr>
          <a:xfrm>
            <a:off x="0" y="0"/>
            <a:ext cx="24384000" cy="1016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B0ECDF7-CA7E-449A-9CE7-C4DF7380F33E}"/>
              </a:ext>
            </a:extLst>
          </p:cNvPr>
          <p:cNvSpPr txBox="1"/>
          <p:nvPr/>
        </p:nvSpPr>
        <p:spPr>
          <a:xfrm>
            <a:off x="889000" y="558800"/>
            <a:ext cx="21336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200">
                <a:solidFill>
                  <a:srgbClr val="F2F7FF"/>
                </a:solidFill>
                <a:latin typeface="Segoe UI Semibold" panose="020B0702040204020203" pitchFamily="34" charset="0"/>
              </a:rPr>
              <a:t>Shot Blueprint: Iteration Chamber Reveal</a:t>
            </a:r>
            <a:endParaRPr lang="de-DE" sz="4200">
              <a:solidFill>
                <a:srgbClr val="F2F7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55BA5F8-880D-4175-B0D8-27E5569C2CF0}"/>
              </a:ext>
            </a:extLst>
          </p:cNvPr>
          <p:cNvSpPr txBox="1"/>
          <p:nvPr/>
        </p:nvSpPr>
        <p:spPr>
          <a:xfrm>
            <a:off x="1143000" y="2032000"/>
            <a:ext cx="22098000" cy="452431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SHOT 01: TUNNEL EXIT wide / chamber darkness with row hints only.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SHOT 02: MED move-in / beam cuts first line geometry (pattern before identity).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SHOT 03: INSERT silhouette in frost / first human form recognition.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SHOT 04: REACTION close Keller/Hartmann / cognitive hesitation.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SHOT 05: lateral pass / near-human variation appears in same row logic.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SHOT 06: WIDE depth read / serial structure extends beyond visibility.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SHOT 07: CLOSE on son-like profile in chamber / denial beat.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SHOT 08: TRACK to archive wall / surface relief starts micro-response.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SHOT 09: HAND CONTACT insert / wall activation and hum shift.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SHOT 10: SUBJECTIVE rupture montage / data not image.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SHOT 11: RETURN WIDE / team scale collapses against chamber scale.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SHOT 12: ENTITY threshold frame / measured presence, not attack posture.</a:t>
            </a:r>
            <a:endParaRPr lang="de-DE" sz="2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0045411-55A6-452C-AE4F-C125BC8547EB}"/>
              </a:ext>
            </a:extLst>
          </p:cNvPr>
          <p:cNvSpPr txBox="1"/>
          <p:nvPr/>
        </p:nvSpPr>
        <p:spPr>
          <a:xfrm>
            <a:off x="889000" y="13309600"/>
            <a:ext cx="2159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FINAL DIRECTOR VISUAL BIBLE v1 | INTERNAL ONLY | AT THE MOUNTAINS OF MADNESS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1A2C250-C3C8-4183-A97B-93FB5DE07A96}"/>
              </a:ext>
            </a:extLst>
          </p:cNvPr>
          <p:cNvSpPr txBox="1"/>
          <p:nvPr/>
        </p:nvSpPr>
        <p:spPr>
          <a:xfrm>
            <a:off x="22606000" y="13309600"/>
            <a:ext cx="889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100">
                <a:solidFill>
                  <a:srgbClr val="7FA0C7"/>
                </a:solidFill>
                <a:latin typeface="Segoe UI Semibold" panose="020B0702040204020203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2203622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7A6A9FE-91A2-406C-845D-11836B4949B8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B15A5E2-D067-431C-BD82-860A580AA6F9}"/>
              </a:ext>
            </a:extLst>
          </p:cNvPr>
          <p:cNvSpPr/>
          <p:nvPr/>
        </p:nvSpPr>
        <p:spPr>
          <a:xfrm>
            <a:off x="0" y="0"/>
            <a:ext cx="24384000" cy="1016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EB0208C-CCE9-4A5D-92A6-29602AE07670}"/>
              </a:ext>
            </a:extLst>
          </p:cNvPr>
          <p:cNvSpPr txBox="1"/>
          <p:nvPr/>
        </p:nvSpPr>
        <p:spPr>
          <a:xfrm>
            <a:off x="889000" y="558800"/>
            <a:ext cx="21336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200">
                <a:solidFill>
                  <a:srgbClr val="F2F7FF"/>
                </a:solidFill>
                <a:latin typeface="Segoe UI Semibold" panose="020B0702040204020203" pitchFamily="34" charset="0"/>
              </a:rPr>
              <a:t>Signature Motifs Continuity Matrix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8ECA589-B49A-463C-A95B-0FE927814056}"/>
              </a:ext>
            </a:extLst>
          </p:cNvPr>
          <p:cNvSpPr txBox="1"/>
          <p:nvPr/>
        </p:nvSpPr>
        <p:spPr>
          <a:xfrm>
            <a:off x="1143000" y="2032000"/>
            <a:ext cx="22098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Son photo -&gt; Helicopter intro (`#2`) -&gt; From memory object to proof-obsession trigger -&gt; Son-like chamber iteration (`#23`/`#24`)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Notebook / protocol writing -&gt; Early control behavior (`#2`) -&gt; Control turns into compulsive evidence logic -&gt; Institutional-end ambiguity frame (`#34`)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Cyan measurement accent -&gt; Camp diagnostics (`#7`, `#14`) -&gt; Device readout to system-response marker -&gt; Integration process coding in end status logic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Mirror image -&gt; Isolation room setup (`#34`) -&gt; Identity confidence rupture via pupil event -&gt; Replacement question unresolved in final beat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Status cards -&gt; Institutional process layer (`#34`) -&gt; Human report frame collapses into machine process frame -&gt; `STATUS: ITERATION AKTIV` (`#35` ending)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Distorted signal + deep hum -&gt; Opening unknown cue (`#1`/`#2`) -&gt; Reframed as active system communication -&gt; Closing mirror confirms cycle recurrence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39E8A6F-5C19-41CC-B6E2-4A1708108F52}"/>
              </a:ext>
            </a:extLst>
          </p:cNvPr>
          <p:cNvSpPr txBox="1"/>
          <p:nvPr/>
        </p:nvSpPr>
        <p:spPr>
          <a:xfrm>
            <a:off x="889000" y="13309600"/>
            <a:ext cx="2159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FINAL DIRECTOR VISUAL BIBLE v1 | INTERNAL ONLY | AT THE MOUNTAINS OF MADNESS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E16A9A-3409-494D-9C9F-7CE8F3D0AD07}"/>
              </a:ext>
            </a:extLst>
          </p:cNvPr>
          <p:cNvSpPr txBox="1"/>
          <p:nvPr/>
        </p:nvSpPr>
        <p:spPr>
          <a:xfrm>
            <a:off x="22606000" y="13309600"/>
            <a:ext cx="889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100">
                <a:solidFill>
                  <a:srgbClr val="7FA0C7"/>
                </a:solidFill>
                <a:latin typeface="Segoe UI Semibold" panose="020B0702040204020203" pitchFamily="34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69086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05981B8-2C50-4CDF-88B5-EBD3C58E1AAF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F9F2DDA-63BA-4A5E-90E5-1F0D02222917}"/>
              </a:ext>
            </a:extLst>
          </p:cNvPr>
          <p:cNvSpPr/>
          <p:nvPr/>
        </p:nvSpPr>
        <p:spPr>
          <a:xfrm>
            <a:off x="0" y="0"/>
            <a:ext cx="24384000" cy="1016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86418A0-FE98-473D-B12E-EFE43354B990}"/>
              </a:ext>
            </a:extLst>
          </p:cNvPr>
          <p:cNvSpPr txBox="1"/>
          <p:nvPr/>
        </p:nvSpPr>
        <p:spPr>
          <a:xfrm>
            <a:off x="889000" y="558800"/>
            <a:ext cx="21336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200">
                <a:solidFill>
                  <a:srgbClr val="F2F7FF"/>
                </a:solidFill>
                <a:latin typeface="Segoe UI Semibold" panose="020B0702040204020203" pitchFamily="34" charset="0"/>
              </a:rPr>
              <a:t>VFX Philosophy Policy (Practical-First)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B6C06F4-FDEF-41DD-9D78-11C3EEF8E33E}"/>
              </a:ext>
            </a:extLst>
          </p:cNvPr>
          <p:cNvSpPr txBox="1"/>
          <p:nvPr/>
        </p:nvSpPr>
        <p:spPr>
          <a:xfrm>
            <a:off x="1143000" y="2032000"/>
            <a:ext cx="22098000" cy="34163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Protect the film's clinical tone by defining where VFX serves story precision and where it is explicitly constrained.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Practical-first execution in all actor-proximate zones.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VFX is a scale and continuity tool, not a style replacement engine.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Every VFX event must preserve geographic readability and tonal restraint.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Use practical snow/wind/props and near-surface structure texture as baseline reality.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Reserve VFX for depth, extension, subtle system behavior, and continuity stitching.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Enforce early asset lock and shot-level intent notes before vendor turnarounds.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Practical: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Snow, wind, rotor interaction, costume contamination, hero props.</a:t>
            </a:r>
            <a:endParaRPr lang="de-DE" sz="2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10A7F36-8687-48DB-A573-9DBA6ECEE28A}"/>
              </a:ext>
            </a:extLst>
          </p:cNvPr>
          <p:cNvSpPr txBox="1"/>
          <p:nvPr/>
        </p:nvSpPr>
        <p:spPr>
          <a:xfrm>
            <a:off x="889000" y="13309600"/>
            <a:ext cx="2159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FINAL DIRECTOR VISUAL BIBLE v1 | INTERNAL ONLY | AT THE MOUNTAINS OF MADNESS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4063CC7-0838-4C10-8966-ADA8C7164370}"/>
              </a:ext>
            </a:extLst>
          </p:cNvPr>
          <p:cNvSpPr txBox="1"/>
          <p:nvPr/>
        </p:nvSpPr>
        <p:spPr>
          <a:xfrm>
            <a:off x="22606000" y="13309600"/>
            <a:ext cx="889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100">
                <a:solidFill>
                  <a:srgbClr val="7FA0C7"/>
                </a:solidFill>
                <a:latin typeface="Segoe UI Semibold" panose="020B0702040204020203" pitchFamily="34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209747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B2D841EA-1C12-4174-B605-5FCE2AF94A0D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77FB265-17B5-4CA3-A168-846263F559A9}"/>
              </a:ext>
            </a:extLst>
          </p:cNvPr>
          <p:cNvSpPr/>
          <p:nvPr/>
        </p:nvSpPr>
        <p:spPr>
          <a:xfrm>
            <a:off x="0" y="0"/>
            <a:ext cx="24384000" cy="1016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55F767D-87E0-4E36-993E-4C9913438DCA}"/>
              </a:ext>
            </a:extLst>
          </p:cNvPr>
          <p:cNvSpPr txBox="1"/>
          <p:nvPr/>
        </p:nvSpPr>
        <p:spPr>
          <a:xfrm>
            <a:off x="889000" y="558800"/>
            <a:ext cx="21336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200">
                <a:solidFill>
                  <a:srgbClr val="F2F7FF"/>
                </a:solidFill>
                <a:latin typeface="Segoe UI Semibold" panose="020B0702040204020203" pitchFamily="34" charset="0"/>
              </a:rPr>
              <a:t>Entity Behavior Rule Set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CD901B9-441B-4A86-9EF6-29CE847BB1A3}"/>
              </a:ext>
            </a:extLst>
          </p:cNvPr>
          <p:cNvSpPr txBox="1"/>
          <p:nvPr/>
        </p:nvSpPr>
        <p:spPr>
          <a:xfrm>
            <a:off x="1143000" y="2032000"/>
            <a:ext cx="22098000" cy="37856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Define strict behavior grammar so entities remain procedural intelligences, not monster antagonists.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Entities are evaluators/operators, never rage-driven hunters.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Movement reads measured and purposeful at all times.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Interaction priority is sensing/comparing/classifying, not killing.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Zone 1 — Observe (&gt;6m): silhouette + hum presence, no rush, no escalation.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Zone 2 — Measure (2–6m): slow calibrated approach, one or two purposeful stops.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Zone 3 — Contact (&lt;2m): sensor/forehead contact → immediate processing stillness → disengage.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Stage entity beats as controlled interventions with clear operational intent.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Keep distance logic consistent (observe -&gt; approach -&gt; measure -&gt; disengage).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Use silence and low-frequency system tones as primary presence cues.</a:t>
            </a:r>
            <a:endParaRPr lang="de-DE" sz="2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5F3C3BA-A5A6-428B-AE40-39905AAD4D7F}"/>
              </a:ext>
            </a:extLst>
          </p:cNvPr>
          <p:cNvSpPr txBox="1"/>
          <p:nvPr/>
        </p:nvSpPr>
        <p:spPr>
          <a:xfrm>
            <a:off x="889000" y="13309600"/>
            <a:ext cx="2159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FINAL DIRECTOR VISUAL BIBLE v1 | INTERNAL ONLY | AT THE MOUNTAINS OF MADNESS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5FA5F90-A8F4-4534-BE06-E836D94BD997}"/>
              </a:ext>
            </a:extLst>
          </p:cNvPr>
          <p:cNvSpPr txBox="1"/>
          <p:nvPr/>
        </p:nvSpPr>
        <p:spPr>
          <a:xfrm>
            <a:off x="22606000" y="13309600"/>
            <a:ext cx="889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100">
                <a:solidFill>
                  <a:srgbClr val="7FA0C7"/>
                </a:solidFill>
                <a:latin typeface="Segoe UI Semibold" panose="020B0702040204020203" pitchFamily="34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208500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676D2F6-B788-4CE0-86D2-C1CD4F8B31A6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9DB8AC7-9126-404B-B125-9E457461545A}"/>
              </a:ext>
            </a:extLst>
          </p:cNvPr>
          <p:cNvSpPr/>
          <p:nvPr/>
        </p:nvSpPr>
        <p:spPr>
          <a:xfrm>
            <a:off x="0" y="0"/>
            <a:ext cx="24384000" cy="1016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6D9586A-466D-4CC6-AE90-28FB06312841}"/>
              </a:ext>
            </a:extLst>
          </p:cNvPr>
          <p:cNvSpPr txBox="1"/>
          <p:nvPr/>
        </p:nvSpPr>
        <p:spPr>
          <a:xfrm>
            <a:off x="889000" y="558800"/>
            <a:ext cx="21336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200">
                <a:solidFill>
                  <a:srgbClr val="F2F7FF"/>
                </a:solidFill>
                <a:latin typeface="Segoe UI Semibold" panose="020B0702040204020203" pitchFamily="34" charset="0"/>
              </a:rPr>
              <a:t>Diagram: Spatial Map (Camp to Chamber)</a:t>
            </a:r>
            <a:endParaRPr lang="de-DE" sz="4200">
              <a:solidFill>
                <a:srgbClr val="F2F7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0225374-FB8B-4AE6-82A4-8506798DF1F7}"/>
              </a:ext>
            </a:extLst>
          </p:cNvPr>
          <p:cNvSpPr/>
          <p:nvPr/>
        </p:nvSpPr>
        <p:spPr>
          <a:xfrm>
            <a:off x="889000" y="2032000"/>
            <a:ext cx="22606000" cy="9652000"/>
          </a:xfrm>
          <a:prstGeom prst="rect">
            <a:avLst/>
          </a:prstGeom>
          <a:solidFill>
            <a:srgbClr val="15263F">
              <a:alpha val="92000"/>
            </a:srgbClr>
          </a:solidFill>
          <a:ln w="19050">
            <a:solidFill>
              <a:srgbClr val="4F71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D9B4673-DF23-4BE2-98BB-2823C45F400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" y="2540000"/>
            <a:ext cx="21336000" cy="787400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68A3F74-5A70-49D0-8FFB-E24377C0CAD2}"/>
              </a:ext>
            </a:extLst>
          </p:cNvPr>
          <p:cNvSpPr txBox="1"/>
          <p:nvPr/>
        </p:nvSpPr>
        <p:spPr>
          <a:xfrm>
            <a:off x="1524000" y="10668000"/>
            <a:ext cx="213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7FA0C7"/>
                </a:solidFill>
                <a:latin typeface="Segoe UI" panose="020B0502040204020203" pitchFamily="34" charset="0"/>
              </a:rPr>
              <a:t>Top-down + vertical continuity map for previs and set geography validation.</a:t>
            </a:r>
            <a:endParaRPr lang="de-DE" sz="16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C650A52-6C2B-4AE8-88ED-A2FD86B5F847}"/>
              </a:ext>
            </a:extLst>
          </p:cNvPr>
          <p:cNvSpPr txBox="1"/>
          <p:nvPr/>
        </p:nvSpPr>
        <p:spPr>
          <a:xfrm>
            <a:off x="889000" y="13309600"/>
            <a:ext cx="2159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FINAL DIRECTOR VISUAL BIBLE v1 | INTERNAL ONLY | AT THE MOUNTAINS OF MADNESS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AD187D4-C8EB-4193-A24E-7020E12DE0FE}"/>
              </a:ext>
            </a:extLst>
          </p:cNvPr>
          <p:cNvSpPr txBox="1"/>
          <p:nvPr/>
        </p:nvSpPr>
        <p:spPr>
          <a:xfrm>
            <a:off x="22606000" y="13309600"/>
            <a:ext cx="889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100">
                <a:solidFill>
                  <a:srgbClr val="7FA0C7"/>
                </a:solidFill>
                <a:latin typeface="Segoe UI Semibold" panose="020B0702040204020203" pitchFamily="34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65104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406F7F98-C64E-469A-AE1C-9C0889BFA2D0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146778B-34EF-4BF3-B324-CE1E8FEC4B2D}"/>
              </a:ext>
            </a:extLst>
          </p:cNvPr>
          <p:cNvSpPr/>
          <p:nvPr/>
        </p:nvSpPr>
        <p:spPr>
          <a:xfrm>
            <a:off x="0" y="0"/>
            <a:ext cx="24384000" cy="1016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7AA1D41-1E11-43DC-BBC4-97C9821C3D39}"/>
              </a:ext>
            </a:extLst>
          </p:cNvPr>
          <p:cNvSpPr txBox="1"/>
          <p:nvPr/>
        </p:nvSpPr>
        <p:spPr>
          <a:xfrm>
            <a:off x="889000" y="558800"/>
            <a:ext cx="21336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200">
                <a:solidFill>
                  <a:srgbClr val="F2F7FF"/>
                </a:solidFill>
                <a:latin typeface="Segoe UI Semibold" panose="020B0702040204020203" pitchFamily="34" charset="0"/>
              </a:rPr>
              <a:t>Diagram: Act Visual Compression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8FE0F8E-9177-4970-B8D1-6154D1763D22}"/>
              </a:ext>
            </a:extLst>
          </p:cNvPr>
          <p:cNvSpPr/>
          <p:nvPr/>
        </p:nvSpPr>
        <p:spPr>
          <a:xfrm>
            <a:off x="889000" y="2032000"/>
            <a:ext cx="22606000" cy="9652000"/>
          </a:xfrm>
          <a:prstGeom prst="rect">
            <a:avLst/>
          </a:prstGeom>
          <a:solidFill>
            <a:srgbClr val="15263F">
              <a:alpha val="92000"/>
            </a:srgbClr>
          </a:solidFill>
          <a:ln w="19050">
            <a:solidFill>
              <a:srgbClr val="4F71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1202BDB-C3AD-4A0D-987A-B02461110CD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" y="2540000"/>
            <a:ext cx="21336000" cy="787400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6E5C8C87-2697-4AC3-A05D-504613727D85}"/>
              </a:ext>
            </a:extLst>
          </p:cNvPr>
          <p:cNvSpPr txBox="1"/>
          <p:nvPr/>
        </p:nvSpPr>
        <p:spPr>
          <a:xfrm>
            <a:off x="1524000" y="10668000"/>
            <a:ext cx="213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7FA0C7"/>
                </a:solidFill>
                <a:latin typeface="Segoe UI" panose="020B0502040204020203" pitchFamily="34" charset="0"/>
              </a:rPr>
              <a:t>Act I wide to Act III tight framing policy.</a:t>
            </a:r>
            <a:endParaRPr lang="de-DE" sz="16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143D521-1356-4CCD-A871-85F752E9C55E}"/>
              </a:ext>
            </a:extLst>
          </p:cNvPr>
          <p:cNvSpPr txBox="1"/>
          <p:nvPr/>
        </p:nvSpPr>
        <p:spPr>
          <a:xfrm>
            <a:off x="889000" y="13309600"/>
            <a:ext cx="2159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FINAL DIRECTOR VISUAL BIBLE v1 | INTERNAL ONLY | AT THE MOUNTAINS OF MADNESS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E0EAB21-CAAC-49D0-A667-FF736498DC43}"/>
              </a:ext>
            </a:extLst>
          </p:cNvPr>
          <p:cNvSpPr txBox="1"/>
          <p:nvPr/>
        </p:nvSpPr>
        <p:spPr>
          <a:xfrm>
            <a:off x="22606000" y="13309600"/>
            <a:ext cx="889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100">
                <a:solidFill>
                  <a:srgbClr val="7FA0C7"/>
                </a:solidFill>
                <a:latin typeface="Segoe UI Semibold" panose="020B0702040204020203" pitchFamily="34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280919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CD34F689-F751-4181-ABEA-1BBEDB1AF5FF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994825B-5DDA-48EE-8C2E-1D67B5548C22}"/>
              </a:ext>
            </a:extLst>
          </p:cNvPr>
          <p:cNvSpPr/>
          <p:nvPr/>
        </p:nvSpPr>
        <p:spPr>
          <a:xfrm>
            <a:off x="0" y="0"/>
            <a:ext cx="24384000" cy="1016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3582D14-0C3A-4475-A772-845208025450}"/>
              </a:ext>
            </a:extLst>
          </p:cNvPr>
          <p:cNvSpPr txBox="1"/>
          <p:nvPr/>
        </p:nvSpPr>
        <p:spPr>
          <a:xfrm>
            <a:off x="889000" y="558800"/>
            <a:ext cx="21336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200">
                <a:solidFill>
                  <a:srgbClr val="F2F7FF"/>
                </a:solidFill>
                <a:latin typeface="Segoe UI Semibold" panose="020B0702040204020203" pitchFamily="34" charset="0"/>
              </a:rPr>
              <a:t>Diagram: Master Palette Strip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F872AC6-744C-4D5B-BDEA-723AF8BFC541}"/>
              </a:ext>
            </a:extLst>
          </p:cNvPr>
          <p:cNvSpPr/>
          <p:nvPr/>
        </p:nvSpPr>
        <p:spPr>
          <a:xfrm>
            <a:off x="889000" y="2032000"/>
            <a:ext cx="22606000" cy="9652000"/>
          </a:xfrm>
          <a:prstGeom prst="rect">
            <a:avLst/>
          </a:prstGeom>
          <a:solidFill>
            <a:srgbClr val="15263F">
              <a:alpha val="92000"/>
            </a:srgbClr>
          </a:solidFill>
          <a:ln w="19050">
            <a:solidFill>
              <a:srgbClr val="4F71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95D8B84-B501-414D-A4BF-36864563796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" y="2540000"/>
            <a:ext cx="21336000" cy="787400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409955CB-291C-4421-B2B7-5ED8CD3C1A31}"/>
              </a:ext>
            </a:extLst>
          </p:cNvPr>
          <p:cNvSpPr txBox="1"/>
          <p:nvPr/>
        </p:nvSpPr>
        <p:spPr>
          <a:xfrm>
            <a:off x="1524000" y="10668000"/>
            <a:ext cx="213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7FA0C7"/>
                </a:solidFill>
                <a:latin typeface="Segoe UI" panose="020B0502040204020203" pitchFamily="34" charset="0"/>
              </a:rPr>
              <a:t>Cross-department palette lock for production design, grading, and VFX.</a:t>
            </a:r>
            <a:endParaRPr lang="de-DE" sz="16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07D17EF-3A74-4E8F-B844-DF68779F0F3D}"/>
              </a:ext>
            </a:extLst>
          </p:cNvPr>
          <p:cNvSpPr txBox="1"/>
          <p:nvPr/>
        </p:nvSpPr>
        <p:spPr>
          <a:xfrm>
            <a:off x="889000" y="13309600"/>
            <a:ext cx="2159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FINAL DIRECTOR VISUAL BIBLE v1 | INTERNAL ONLY | AT THE MOUNTAINS OF MADNESS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44F3067-B9D1-4B03-83C1-448735A18A26}"/>
              </a:ext>
            </a:extLst>
          </p:cNvPr>
          <p:cNvSpPr txBox="1"/>
          <p:nvPr/>
        </p:nvSpPr>
        <p:spPr>
          <a:xfrm>
            <a:off x="22606000" y="13309600"/>
            <a:ext cx="889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100">
                <a:solidFill>
                  <a:srgbClr val="7FA0C7"/>
                </a:solidFill>
                <a:latin typeface="Segoe UI Semibold" panose="020B0702040204020203" pitchFamily="34" charset="0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286510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DB2B80A-BB53-4670-A1FD-4C8768B40DE8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238BFEF-81B6-4A17-AC0A-9A3BC9BA96D2}"/>
              </a:ext>
            </a:extLst>
          </p:cNvPr>
          <p:cNvSpPr/>
          <p:nvPr/>
        </p:nvSpPr>
        <p:spPr>
          <a:xfrm>
            <a:off x="0" y="0"/>
            <a:ext cx="24384000" cy="1016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C08950F-C776-4649-9644-FC7B87AA85A5}"/>
              </a:ext>
            </a:extLst>
          </p:cNvPr>
          <p:cNvSpPr txBox="1"/>
          <p:nvPr/>
        </p:nvSpPr>
        <p:spPr>
          <a:xfrm>
            <a:off x="889000" y="558800"/>
            <a:ext cx="21336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200">
                <a:solidFill>
                  <a:srgbClr val="F2F7FF"/>
                </a:solidFill>
                <a:latin typeface="Segoe UI Semibold" panose="020B0702040204020203" pitchFamily="34" charset="0"/>
              </a:rPr>
              <a:t>Appendix: Department File Map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FB5158D-7698-4A63-AB7E-7B3A84B1275C}"/>
              </a:ext>
            </a:extLst>
          </p:cNvPr>
          <p:cNvSpPr txBox="1"/>
          <p:nvPr/>
        </p:nvSpPr>
        <p:spPr>
          <a:xfrm>
            <a:off x="1143000" y="2032000"/>
            <a:ext cx="22098000" cy="15696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Director/DP: 00, 20, 11-16, 23, compression diagram.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Production Design: 12-16, spatial map, palette strip.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VFX: 22, 23, 13-15.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Edit/Sound: 21, 20, 16, 23.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4530EBC-590C-4E46-AEB7-51163035FDA5}"/>
              </a:ext>
            </a:extLst>
          </p:cNvPr>
          <p:cNvSpPr txBox="1"/>
          <p:nvPr/>
        </p:nvSpPr>
        <p:spPr>
          <a:xfrm>
            <a:off x="889000" y="13309600"/>
            <a:ext cx="2159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FINAL DIRECTOR VISUAL BIBLE v1 | INTERNAL ONLY | AT THE MOUNTAINS OF MADNESS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89D9B5D-99C3-4831-A941-41EB1359E53A}"/>
              </a:ext>
            </a:extLst>
          </p:cNvPr>
          <p:cNvSpPr txBox="1"/>
          <p:nvPr/>
        </p:nvSpPr>
        <p:spPr>
          <a:xfrm>
            <a:off x="22606000" y="13309600"/>
            <a:ext cx="889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100">
                <a:solidFill>
                  <a:srgbClr val="7FA0C7"/>
                </a:solidFill>
                <a:latin typeface="Segoe UI Semibold" panose="020B0702040204020203" pitchFamily="34" charset="0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9749313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C7928B7B-3BF8-4936-8B65-BF428C44CF36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AA5B671-187C-42EF-B214-AA6478D473BF}"/>
              </a:ext>
            </a:extLst>
          </p:cNvPr>
          <p:cNvSpPr/>
          <p:nvPr/>
        </p:nvSpPr>
        <p:spPr>
          <a:xfrm>
            <a:off x="0" y="0"/>
            <a:ext cx="24384000" cy="1016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836C79D-C768-465E-85D4-A4496A8FB0AC}"/>
              </a:ext>
            </a:extLst>
          </p:cNvPr>
          <p:cNvSpPr txBox="1"/>
          <p:nvPr/>
        </p:nvSpPr>
        <p:spPr>
          <a:xfrm>
            <a:off x="889000" y="558800"/>
            <a:ext cx="21336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200">
                <a:solidFill>
                  <a:srgbClr val="F2F7FF"/>
                </a:solidFill>
                <a:latin typeface="Segoe UI Semibold" panose="020B0702040204020203" pitchFamily="34" charset="0"/>
              </a:rPr>
              <a:t>Final Note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285AD11-598F-4C02-AD05-4E5D4C1E1231}"/>
              </a:ext>
            </a:extLst>
          </p:cNvPr>
          <p:cNvSpPr txBox="1"/>
          <p:nvPr/>
        </p:nvSpPr>
        <p:spPr>
          <a:xfrm>
            <a:off x="1143000" y="2032000"/>
            <a:ext cx="22098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This bible is a drift-control system: tone, scale, and behavior must stay coherent from prep to final mix.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If a choice increases spectacle but reduces meaning clarity, reject it.</a:t>
            </a:r>
            <a:endParaRPr lang="de-DE" sz="2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1B69AD5-310B-4613-A095-754A4B0BAE3F}"/>
              </a:ext>
            </a:extLst>
          </p:cNvPr>
          <p:cNvSpPr/>
          <p:nvPr/>
        </p:nvSpPr>
        <p:spPr>
          <a:xfrm>
            <a:off x="1143000" y="8890000"/>
            <a:ext cx="22098000" cy="2159000"/>
          </a:xfrm>
          <a:prstGeom prst="rect">
            <a:avLst/>
          </a:prstGeom>
          <a:solidFill>
            <a:srgbClr val="15263F">
              <a:alpha val="90000"/>
            </a:srgbClr>
          </a:solidFill>
          <a:ln w="25400">
            <a:solidFill>
              <a:srgbClr val="36D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611C88B-4DCA-4077-811E-462E32510EA6}"/>
              </a:ext>
            </a:extLst>
          </p:cNvPr>
          <p:cNvSpPr txBox="1"/>
          <p:nvPr/>
        </p:nvSpPr>
        <p:spPr>
          <a:xfrm>
            <a:off x="1651000" y="9499600"/>
            <a:ext cx="2108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>
                <a:solidFill>
                  <a:srgbClr val="36D6FF"/>
                </a:solidFill>
                <a:latin typeface="Segoe UI Semibold" panose="020B0702040204020203" pitchFamily="34" charset="0"/>
              </a:rPr>
              <a:t>Protect clarity. Protect behavior. Protect tone.</a:t>
            </a:r>
            <a:endParaRPr lang="de-DE" sz="3600">
              <a:solidFill>
                <a:srgbClr val="36D6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F4269B9-C4DE-4B23-AF01-65258B03D1F7}"/>
              </a:ext>
            </a:extLst>
          </p:cNvPr>
          <p:cNvSpPr txBox="1"/>
          <p:nvPr/>
        </p:nvSpPr>
        <p:spPr>
          <a:xfrm>
            <a:off x="889000" y="13309600"/>
            <a:ext cx="2159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FINAL DIRECTOR VISUAL BIBLE v1 | INTERNAL ONLY | AT THE MOUNTAINS OF MADNESS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FE9A76B-418D-4C30-A2D9-D100EC3D7296}"/>
              </a:ext>
            </a:extLst>
          </p:cNvPr>
          <p:cNvSpPr txBox="1"/>
          <p:nvPr/>
        </p:nvSpPr>
        <p:spPr>
          <a:xfrm>
            <a:off x="22606000" y="13309600"/>
            <a:ext cx="889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100">
                <a:solidFill>
                  <a:srgbClr val="7FA0C7"/>
                </a:solidFill>
                <a:latin typeface="Segoe UI Semibold" panose="020B0702040204020203" pitchFamily="34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578107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2865</Words>
  <Application>Microsoft Office PowerPoint</Application>
  <PresentationFormat>Bildschirmpräsentation (16:10)</PresentationFormat>
  <Paragraphs>251</Paragraphs>
  <Slides>24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Segoe UI</vt:lpstr>
      <vt:lpstr>Segoe UI Semibold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Ralf Krümmel</dc:creator>
  <cp:lastModifiedBy>Ralf Krümmel</cp:lastModifiedBy>
  <cp:revision>1</cp:revision>
  <dcterms:created xsi:type="dcterms:W3CDTF">2026-02-21T08:42:40Z</dcterms:created>
  <dcterms:modified xsi:type="dcterms:W3CDTF">2026-02-21T08:42:41Z</dcterms:modified>
</cp:coreProperties>
</file>